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2" d="100"/>
          <a:sy n="82" d="100"/>
        </p:scale>
        <p:origin x="69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0588176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This report covers four KPIs from the Facebook and Instagram Insights exports and the Ads Manager export for January to April 2023: audience reach growth, Facebook likes versus Instagram followers, total ad spend, and the percentage change in ad spend.</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KPIs from the brief. All growth rates are month on month, built from the daily series summed by month.</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terms used throughout. Reach and spend come from the Ads Manager export; Page reach, likes and followers come from the Facebook and Instagram Insights exports.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Totals for January to April 2023, matching the dashboard tiles (shown there as 4.96K, 857K, 191K, 3089 and 3188). Reach totals add up daily unique users, so they are not distinct people; growth rates use the same method every month. Currency is treated as GBP because the export states none.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Monthly reach, January to April. Facebook: 211,093 / 250,753 / 116,110 / 278,785. Instagram: 58,377 / 53,194 / 34,183 / 45,283. March fell on both platforms together. The April increase is measured off a depressed March, so compare it with February as well: Facebook +11.2%, Instagram −14.9%.</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platforms peaked in January. The crossover is in March, not after it: Instagram 621 against Facebook 417. Instagram is the more resilient platform in relative terms, but its followers also fell between January and March, so this is resilience, not immunity.</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Monthly spend: £1,012.55, £1,383.26, £642.83, £1,920.40; total £4,959.04. The March fall is not a three-day blip: spend tapered from 4 March, was exactly £0 on 7 and 8 March, recovered to about £38 a day on 10–12 March, then ran at about £2 a day on 14–21 March before building back. The cause is awaiting confirmation from the Ad manager, so describe it as a drop in ad delivery rather than as a budget decision.</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Changes: February +36.61%, March −53.53%, April +198.74%. The size of the April percentage is driven by the depressed March base, so quote the April spend (£1,920.40) and the comparison with February (+38.8%) alongside it.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replaces the claim of a direct causal link. What the data supports: reach moves closely with ad delivery, especially on Facebook. What it does not support: that spend drove every trend. In February spend rose but likes and followers fell, and Instagram reach fell too. Correlations are from 120 daily observations.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Checked against the data. Floor: £1,000 over 30 days is £33.33 a day; mean Facebook reach on 14–21 March was 1,751 a day against 8,956 in February (−80.4%). Reach per £ for Facebook: January 208.5, February 181.3, March 180.6, April 145.2. April against February: Facebook reach +11.2%, spend +38.8%. The ±20% figure is an industry rule of thumb that our data does not test.</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Checked against the data. Instagram followers 949 to 621 (−34.6%); Facebook likes 1,219 to 417 (−65.8%). January has the highest likes and followers and the highest Instagram reach (58,377). Recommendation 5 comes from the team's judgement and general practice; nothing in the exports tests it.</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limits come from the data-quality log kept for this task (Issue 3 covers the March gap). Being open about them makes the conclusions easier to defend.</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and take questions.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6F7FA"/>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229361"/>
            <a:ext cx="10566400" cy="467360"/>
          </a:xfrm>
          <a:prstGeom prst="rect">
            <a:avLst/>
          </a:prstGeom>
          <a:noFill/>
          <a:ln/>
        </p:spPr>
        <p:txBody>
          <a:bodyPr wrap="square" lIns="0" tIns="0" rIns="0" bIns="0" rtlCol="0" anchor="t"/>
          <a:lstStyle>
            <a:lvl1pPr marL="0" indent="0" algn="l">
              <a:lnSpc>
                <a:spcPct val="115000"/>
              </a:lnSpc>
              <a:buNone/>
              <a:defRPr lang="en-US" sz="3200" dirty="0">
                <a:solidFill>
                  <a:srgbClr val="0F1B33"/>
                </a:solidFill>
                <a:latin typeface="Arial" pitchFamily="34" charset="0"/>
                <a:ea typeface="Arial" pitchFamily="34" charset="-122"/>
                <a:cs typeface="Arial" pitchFamily="34" charset="-120"/>
              </a:defRPr>
            </a:lvl1pPr>
          </a:lstStyle>
          <a:p>
            <a:pPr marL="0" indent="0" algn="l">
              <a:lnSpc>
                <a:spcPct val="115000"/>
              </a:lnSpc>
              <a:buNone/>
            </a:pPr>
            <a:endParaRPr lang="en-US" sz="3200" dirty="0"/>
          </a:p>
        </p:txBody>
      </p:sp>
      <p:sp>
        <p:nvSpPr>
          <p:cNvPr id="3" name="Text Placeholder 2"/>
          <p:cNvSpPr>
            <a:spLocks noGrp="1"/>
          </p:cNvSpPr>
          <p:nvPr>
            <p:ph type="body" idx="101"/>
          </p:nvPr>
        </p:nvSpPr>
        <p:spPr>
          <a:xfrm>
            <a:off x="812800" y="2001521"/>
            <a:ext cx="10566400" cy="4043679"/>
          </a:xfrm>
          <a:prstGeom prst="rect">
            <a:avLst/>
          </a:prstGeom>
          <a:noFill/>
          <a:ln/>
        </p:spPr>
        <p:txBody>
          <a:bodyPr wrap="square" lIns="0" tIns="0" rIns="0" bIns="0" rtlCol="0" anchor="t"/>
          <a:lstStyle>
            <a:lvl1pPr marL="0" indent="0" algn="l">
              <a:lnSpc>
                <a:spcPct val="140000"/>
              </a:lnSpc>
              <a:buNone/>
              <a:defRPr lang="en-US" sz="1600" dirty="0">
                <a:solidFill>
                  <a:srgbClr val="0F1B33"/>
                </a:solidFill>
                <a:latin typeface="Arial" pitchFamily="34" charset="0"/>
                <a:ea typeface="Arial" pitchFamily="34" charset="-122"/>
                <a:cs typeface="Arial" pitchFamily="34" charset="-120"/>
              </a:defRPr>
            </a:lvl1pPr>
          </a:lstStyle>
          <a:p>
            <a:pPr marL="0" indent="0" algn="l">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6F7FA"/>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229361"/>
            <a:ext cx="10566400" cy="467360"/>
          </a:xfrm>
          <a:prstGeom prst="rect">
            <a:avLst/>
          </a:prstGeom>
          <a:noFill/>
          <a:ln/>
        </p:spPr>
        <p:txBody>
          <a:bodyPr wrap="square" lIns="0" tIns="0" rIns="0" bIns="0" rtlCol="0" anchor="t"/>
          <a:lstStyle>
            <a:lvl1pPr marL="0" indent="0" algn="l">
              <a:lnSpc>
                <a:spcPct val="115000"/>
              </a:lnSpc>
              <a:buNone/>
              <a:defRPr lang="en-US" sz="3200" dirty="0">
                <a:solidFill>
                  <a:srgbClr val="0F1B33"/>
                </a:solidFill>
                <a:latin typeface="Arial" pitchFamily="34" charset="0"/>
                <a:ea typeface="Arial" pitchFamily="34" charset="-122"/>
                <a:cs typeface="Arial" pitchFamily="34" charset="-120"/>
              </a:defRPr>
            </a:lvl1pPr>
          </a:lstStyle>
          <a:p>
            <a:pPr marL="0" indent="0" algn="l">
              <a:lnSpc>
                <a:spcPct val="115000"/>
              </a:lnSpc>
              <a:buNone/>
            </a:pPr>
            <a:endParaRPr lang="en-US" sz="3200" dirty="0"/>
          </a:p>
        </p:txBody>
      </p:sp>
      <p:sp>
        <p:nvSpPr>
          <p:cNvPr id="3" name="Text Placeholder 2"/>
          <p:cNvSpPr>
            <a:spLocks noGrp="1"/>
          </p:cNvSpPr>
          <p:nvPr>
            <p:ph type="body" idx="101"/>
          </p:nvPr>
        </p:nvSpPr>
        <p:spPr>
          <a:xfrm>
            <a:off x="812800" y="2001521"/>
            <a:ext cx="10566400" cy="4043679"/>
          </a:xfrm>
          <a:prstGeom prst="rect">
            <a:avLst/>
          </a:prstGeom>
          <a:noFill/>
          <a:ln/>
        </p:spPr>
        <p:txBody>
          <a:bodyPr wrap="square" lIns="0" tIns="0" rIns="0" bIns="0" rtlCol="0" anchor="t"/>
          <a:lstStyle>
            <a:lvl1pPr marL="0" indent="0" algn="l">
              <a:lnSpc>
                <a:spcPct val="140000"/>
              </a:lnSpc>
              <a:buNone/>
              <a:defRPr lang="en-US" sz="1600" dirty="0">
                <a:solidFill>
                  <a:srgbClr val="0F1B33"/>
                </a:solidFill>
                <a:latin typeface="Arial" pitchFamily="34" charset="0"/>
                <a:ea typeface="Arial" pitchFamily="34" charset="-122"/>
                <a:cs typeface="Arial" pitchFamily="34" charset="-120"/>
              </a:defRPr>
            </a:lvl1pPr>
          </a:lstStyle>
          <a:p>
            <a:pPr marL="0" indent="0" algn="l">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4.jpe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B33"/>
        </a:solidFill>
        <a:effectLst/>
      </p:bgPr>
    </p:bg>
    <p:spTree>
      <p:nvGrpSpPr>
        <p:cNvPr id="1" name=""/>
        <p:cNvGrpSpPr/>
        <p:nvPr/>
      </p:nvGrpSpPr>
      <p:grpSpPr>
        <a:xfrm>
          <a:off x="0" y="0"/>
          <a:ext cx="0" cy="0"/>
          <a:chOff x="0" y="0"/>
          <a:chExt cx="0" cy="0"/>
        </a:xfrm>
      </p:grpSpPr>
      <p:pic>
        <p:nvPicPr>
          <p:cNvPr id="2" name="Image 0" descr="ellipse"/>
          <p:cNvPicPr>
            <a:picLocks noChangeAspect="1"/>
          </p:cNvPicPr>
          <p:nvPr/>
        </p:nvPicPr>
        <p:blipFill>
          <a:blip r:embed="rId3"/>
          <a:srcRect/>
          <a:stretch/>
        </p:blipFill>
        <p:spPr>
          <a:xfrm>
            <a:off x="7239000" y="812800"/>
            <a:ext cx="4064000" cy="4064000"/>
          </a:xfrm>
          <a:prstGeom prst="rect">
            <a:avLst/>
          </a:prstGeom>
        </p:spPr>
      </p:pic>
      <p:pic>
        <p:nvPicPr>
          <p:cNvPr id="3" name="Image 1" descr="ellipse"/>
          <p:cNvPicPr>
            <a:picLocks noChangeAspect="1"/>
          </p:cNvPicPr>
          <p:nvPr/>
        </p:nvPicPr>
        <p:blipFill>
          <a:blip r:embed="rId4"/>
          <a:srcRect/>
          <a:stretch/>
        </p:blipFill>
        <p:spPr>
          <a:xfrm>
            <a:off x="7747000" y="1320800"/>
            <a:ext cx="3048000" cy="3048000"/>
          </a:xfrm>
          <a:prstGeom prst="rect">
            <a:avLst/>
          </a:prstGeom>
        </p:spPr>
      </p:pic>
      <p:pic>
        <p:nvPicPr>
          <p:cNvPr id="4" name="Image 2" descr="ellipse"/>
          <p:cNvPicPr>
            <a:picLocks noChangeAspect="1"/>
          </p:cNvPicPr>
          <p:nvPr/>
        </p:nvPicPr>
        <p:blipFill>
          <a:blip r:embed="rId5"/>
          <a:srcRect/>
          <a:stretch/>
        </p:blipFill>
        <p:spPr>
          <a:xfrm>
            <a:off x="8255000" y="1828800"/>
            <a:ext cx="2032000" cy="2032000"/>
          </a:xfrm>
          <a:prstGeom prst="rect">
            <a:avLst/>
          </a:prstGeom>
        </p:spPr>
      </p:pic>
      <p:sp>
        <p:nvSpPr>
          <p:cNvPr id="5" name="Shape 0"/>
          <p:cNvSpPr/>
          <p:nvPr/>
        </p:nvSpPr>
        <p:spPr>
          <a:xfrm>
            <a:off x="812800" y="812800"/>
            <a:ext cx="1016000" cy="1016000"/>
          </a:xfrm>
          <a:prstGeom prst="roundRect">
            <a:avLst>
              <a:gd name="adj" fmla="val 15000"/>
            </a:avLst>
          </a:prstGeom>
          <a:solidFill>
            <a:srgbClr val="F6F7FA"/>
          </a:solidFill>
          <a:ln/>
        </p:spPr>
        <p:txBody>
          <a:bodyPr/>
          <a:lstStyle/>
          <a:p>
            <a:endParaRPr lang="en-US"/>
          </a:p>
        </p:txBody>
      </p:sp>
      <p:pic>
        <p:nvPicPr>
          <p:cNvPr id="6" name="Image 3" descr="Digital Echoes logo"/>
          <p:cNvPicPr>
            <a:picLocks noChangeAspect="1"/>
          </p:cNvPicPr>
          <p:nvPr/>
        </p:nvPicPr>
        <p:blipFill>
          <a:blip r:embed="rId6"/>
          <a:srcRect/>
          <a:stretch/>
        </p:blipFill>
        <p:spPr>
          <a:xfrm>
            <a:off x="812800" y="812800"/>
            <a:ext cx="1016000" cy="1016000"/>
          </a:xfrm>
          <a:prstGeom prst="roundRect">
            <a:avLst>
              <a:gd name="adj" fmla="val 15000"/>
            </a:avLst>
          </a:prstGeom>
        </p:spPr>
      </p:pic>
      <p:sp>
        <p:nvSpPr>
          <p:cNvPr id="7" name="Text 1"/>
          <p:cNvSpPr/>
          <p:nvPr/>
        </p:nvSpPr>
        <p:spPr>
          <a:xfrm>
            <a:off x="812800" y="395478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200" dirty="0">
                <a:solidFill>
                  <a:srgbClr val="8DB4FF"/>
                </a:solidFill>
                <a:latin typeface="Arial" pitchFamily="34" charset="0"/>
                <a:ea typeface="Arial" pitchFamily="34" charset="-122"/>
                <a:cs typeface="Arial" pitchFamily="34" charset="-120"/>
              </a:rPr>
              <a:t>META CHANNELS PERFORMANCE REPORT</a:t>
            </a:r>
            <a:endParaRPr lang="en-US" sz="1200" dirty="0"/>
          </a:p>
        </p:txBody>
      </p:sp>
      <p:sp>
        <p:nvSpPr>
          <p:cNvPr id="9" name="Text 3"/>
          <p:cNvSpPr/>
          <p:nvPr/>
        </p:nvSpPr>
        <p:spPr>
          <a:xfrm>
            <a:off x="812800" y="4413250"/>
            <a:ext cx="10883392" cy="5943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C5CCDD"/>
                </a:solidFill>
                <a:latin typeface="Arial" pitchFamily="34" charset="0"/>
                <a:ea typeface="Arial" pitchFamily="34" charset="-122"/>
                <a:cs typeface="Arial" pitchFamily="34" charset="-120"/>
              </a:rPr>
              <a:t>Facebook &amp; Instagram Insights</a:t>
            </a:r>
            <a:endParaRPr lang="en-US" sz="1600" dirty="0"/>
          </a:p>
          <a:p>
            <a:pPr marL="0" indent="0" algn="l">
              <a:lnSpc>
                <a:spcPts val="2240"/>
              </a:lnSpc>
              <a:buNone/>
            </a:pPr>
            <a:r>
              <a:rPr lang="en-US" sz="1600" dirty="0">
                <a:solidFill>
                  <a:srgbClr val="C5CCDD"/>
                </a:solidFill>
                <a:latin typeface="Arial" pitchFamily="34" charset="0"/>
                <a:ea typeface="Arial" pitchFamily="34" charset="-122"/>
                <a:cs typeface="Arial" pitchFamily="34" charset="-120"/>
              </a:rPr>
              <a:t>Monthly report, January – April</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7FA"/>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200" dirty="0">
                <a:solidFill>
                  <a:srgbClr val="2860CF"/>
                </a:solidFill>
                <a:latin typeface="Arial" pitchFamily="34" charset="0"/>
                <a:ea typeface="Arial" pitchFamily="34" charset="-122"/>
                <a:cs typeface="Arial" pitchFamily="34" charset="-120"/>
              </a:rPr>
              <a:t>THE BRIEF</a:t>
            </a:r>
            <a:endParaRPr lang="en-US" sz="1200" dirty="0"/>
          </a:p>
        </p:txBody>
      </p:sp>
      <p:sp>
        <p:nvSpPr>
          <p:cNvPr id="3" name="Text 1"/>
          <p:cNvSpPr>
            <a:spLocks noGrp="1"/>
          </p:cNvSpPr>
          <p:nvPr>
            <p:ph type="title"/>
          </p:nvPr>
        </p:nvSpPr>
        <p:spPr>
          <a:xfrm>
            <a:off x="812800" y="1229360"/>
            <a:ext cx="10883392" cy="492760"/>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0F1B33"/>
                </a:solidFill>
                <a:latin typeface="Arial" pitchFamily="34" charset="0"/>
                <a:ea typeface="Arial" pitchFamily="34" charset="-122"/>
                <a:cs typeface="Arial" pitchFamily="34" charset="-120"/>
              </a:rPr>
              <a:t>Key performance indicators</a:t>
            </a:r>
            <a:endParaRPr lang="en-US" sz="3200" dirty="0"/>
          </a:p>
        </p:txBody>
      </p:sp>
      <p:sp>
        <p:nvSpPr>
          <p:cNvPr id="4" name="Shape 2"/>
          <p:cNvSpPr/>
          <p:nvPr/>
        </p:nvSpPr>
        <p:spPr>
          <a:xfrm>
            <a:off x="815975" y="2004695"/>
            <a:ext cx="5175250" cy="1512570"/>
          </a:xfrm>
          <a:prstGeom prst="roundRect">
            <a:avLst>
              <a:gd name="adj" fmla="val 8186"/>
            </a:avLst>
          </a:prstGeom>
          <a:solidFill>
            <a:srgbClr val="FCFCFD"/>
          </a:solidFill>
          <a:ln w="6350">
            <a:solidFill>
              <a:srgbClr val="DDE1EA"/>
            </a:solidFill>
            <a:prstDash val="solid"/>
          </a:ln>
        </p:spPr>
        <p:txBody>
          <a:bodyPr/>
          <a:lstStyle/>
          <a:p>
            <a:endParaRPr lang="en-US"/>
          </a:p>
        </p:txBody>
      </p:sp>
      <p:sp>
        <p:nvSpPr>
          <p:cNvPr id="5" name="Text 3"/>
          <p:cNvSpPr/>
          <p:nvPr/>
        </p:nvSpPr>
        <p:spPr>
          <a:xfrm>
            <a:off x="1071880" y="2260600"/>
            <a:ext cx="4803343"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2860CF"/>
                </a:solidFill>
                <a:latin typeface="Arial" pitchFamily="34" charset="0"/>
                <a:ea typeface="Arial" pitchFamily="34" charset="-122"/>
                <a:cs typeface="Arial" pitchFamily="34" charset="-120"/>
              </a:rPr>
              <a:t>KPI 1</a:t>
            </a:r>
            <a:endParaRPr lang="en-US" sz="2000" dirty="0"/>
          </a:p>
        </p:txBody>
      </p:sp>
      <p:sp>
        <p:nvSpPr>
          <p:cNvPr id="6" name="Text 4"/>
          <p:cNvSpPr/>
          <p:nvPr/>
        </p:nvSpPr>
        <p:spPr>
          <a:xfrm>
            <a:off x="1071880" y="2692400"/>
            <a:ext cx="4803343" cy="5943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0F1B33"/>
                </a:solidFill>
                <a:latin typeface="Arial" pitchFamily="34" charset="0"/>
                <a:ea typeface="Arial" pitchFamily="34" charset="-122"/>
                <a:cs typeface="Arial" pitchFamily="34" charset="-120"/>
              </a:rPr>
              <a:t>Calculate the growth rate of Facebook and Instagram audience reach.</a:t>
            </a:r>
            <a:endParaRPr lang="en-US" sz="1600" dirty="0"/>
          </a:p>
        </p:txBody>
      </p:sp>
      <p:sp>
        <p:nvSpPr>
          <p:cNvPr id="7" name="Shape 5"/>
          <p:cNvSpPr/>
          <p:nvPr/>
        </p:nvSpPr>
        <p:spPr>
          <a:xfrm>
            <a:off x="6200775" y="2004695"/>
            <a:ext cx="5175250" cy="1512570"/>
          </a:xfrm>
          <a:prstGeom prst="roundRect">
            <a:avLst>
              <a:gd name="adj" fmla="val 8186"/>
            </a:avLst>
          </a:prstGeom>
          <a:solidFill>
            <a:srgbClr val="FCFCFD"/>
          </a:solidFill>
          <a:ln w="6350">
            <a:solidFill>
              <a:srgbClr val="DDE1EA"/>
            </a:solidFill>
            <a:prstDash val="solid"/>
          </a:ln>
        </p:spPr>
        <p:txBody>
          <a:bodyPr/>
          <a:lstStyle/>
          <a:p>
            <a:endParaRPr lang="en-US"/>
          </a:p>
        </p:txBody>
      </p:sp>
      <p:sp>
        <p:nvSpPr>
          <p:cNvPr id="8" name="Text 6"/>
          <p:cNvSpPr/>
          <p:nvPr/>
        </p:nvSpPr>
        <p:spPr>
          <a:xfrm>
            <a:off x="6456680" y="2260600"/>
            <a:ext cx="4803343"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2860CF"/>
                </a:solidFill>
                <a:latin typeface="Arial" pitchFamily="34" charset="0"/>
                <a:ea typeface="Arial" pitchFamily="34" charset="-122"/>
                <a:cs typeface="Arial" pitchFamily="34" charset="-120"/>
              </a:rPr>
              <a:t>KPI 2</a:t>
            </a:r>
            <a:endParaRPr lang="en-US" sz="2000" dirty="0"/>
          </a:p>
        </p:txBody>
      </p:sp>
      <p:sp>
        <p:nvSpPr>
          <p:cNvPr id="9" name="Text 7"/>
          <p:cNvSpPr/>
          <p:nvPr/>
        </p:nvSpPr>
        <p:spPr>
          <a:xfrm>
            <a:off x="6456680" y="2692400"/>
            <a:ext cx="4803343" cy="5943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0F1B33"/>
                </a:solidFill>
                <a:latin typeface="Arial" pitchFamily="34" charset="0"/>
                <a:ea typeface="Arial" pitchFamily="34" charset="-122"/>
                <a:cs typeface="Arial" pitchFamily="34" charset="-120"/>
              </a:rPr>
              <a:t>Compare Facebook Page likes with Instagram followers.</a:t>
            </a:r>
            <a:endParaRPr lang="en-US" sz="1600" dirty="0"/>
          </a:p>
        </p:txBody>
      </p:sp>
      <p:sp>
        <p:nvSpPr>
          <p:cNvPr id="10" name="Shape 8"/>
          <p:cNvSpPr/>
          <p:nvPr/>
        </p:nvSpPr>
        <p:spPr>
          <a:xfrm>
            <a:off x="815975" y="3726815"/>
            <a:ext cx="5175250" cy="1512570"/>
          </a:xfrm>
          <a:prstGeom prst="roundRect">
            <a:avLst>
              <a:gd name="adj" fmla="val 8186"/>
            </a:avLst>
          </a:prstGeom>
          <a:solidFill>
            <a:srgbClr val="FCFCFD"/>
          </a:solidFill>
          <a:ln w="6350">
            <a:solidFill>
              <a:srgbClr val="DDE1EA"/>
            </a:solidFill>
            <a:prstDash val="solid"/>
          </a:ln>
        </p:spPr>
        <p:txBody>
          <a:bodyPr/>
          <a:lstStyle/>
          <a:p>
            <a:endParaRPr lang="en-US"/>
          </a:p>
        </p:txBody>
      </p:sp>
      <p:sp>
        <p:nvSpPr>
          <p:cNvPr id="11" name="Text 9"/>
          <p:cNvSpPr/>
          <p:nvPr/>
        </p:nvSpPr>
        <p:spPr>
          <a:xfrm>
            <a:off x="1071880" y="3982720"/>
            <a:ext cx="4803343"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2860CF"/>
                </a:solidFill>
                <a:latin typeface="Arial" pitchFamily="34" charset="0"/>
                <a:ea typeface="Arial" pitchFamily="34" charset="-122"/>
                <a:cs typeface="Arial" pitchFamily="34" charset="-120"/>
              </a:rPr>
              <a:t>KPI 3</a:t>
            </a:r>
            <a:endParaRPr lang="en-US" sz="2000" dirty="0"/>
          </a:p>
        </p:txBody>
      </p:sp>
      <p:sp>
        <p:nvSpPr>
          <p:cNvPr id="12" name="Text 10"/>
          <p:cNvSpPr/>
          <p:nvPr/>
        </p:nvSpPr>
        <p:spPr>
          <a:xfrm>
            <a:off x="1071880" y="4414520"/>
            <a:ext cx="4803343" cy="5943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0F1B33"/>
                </a:solidFill>
                <a:latin typeface="Arial" pitchFamily="34" charset="0"/>
                <a:ea typeface="Arial" pitchFamily="34" charset="-122"/>
                <a:cs typeface="Arial" pitchFamily="34" charset="-120"/>
              </a:rPr>
              <a:t>Show the total amount spent on ads on a trend diagram.</a:t>
            </a:r>
            <a:endParaRPr lang="en-US" sz="1600" dirty="0"/>
          </a:p>
        </p:txBody>
      </p:sp>
      <p:sp>
        <p:nvSpPr>
          <p:cNvPr id="13" name="Shape 11"/>
          <p:cNvSpPr/>
          <p:nvPr/>
        </p:nvSpPr>
        <p:spPr>
          <a:xfrm>
            <a:off x="6200775" y="3726815"/>
            <a:ext cx="5175250" cy="1512570"/>
          </a:xfrm>
          <a:prstGeom prst="roundRect">
            <a:avLst>
              <a:gd name="adj" fmla="val 8186"/>
            </a:avLst>
          </a:prstGeom>
          <a:solidFill>
            <a:srgbClr val="FCFCFD"/>
          </a:solidFill>
          <a:ln w="6350">
            <a:solidFill>
              <a:srgbClr val="DDE1EA"/>
            </a:solidFill>
            <a:prstDash val="solid"/>
          </a:ln>
        </p:spPr>
        <p:txBody>
          <a:bodyPr/>
          <a:lstStyle/>
          <a:p>
            <a:endParaRPr lang="en-US"/>
          </a:p>
        </p:txBody>
      </p:sp>
      <p:sp>
        <p:nvSpPr>
          <p:cNvPr id="14" name="Text 12"/>
          <p:cNvSpPr/>
          <p:nvPr/>
        </p:nvSpPr>
        <p:spPr>
          <a:xfrm>
            <a:off x="6456680" y="3982720"/>
            <a:ext cx="4803343"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2860CF"/>
                </a:solidFill>
                <a:latin typeface="Arial" pitchFamily="34" charset="0"/>
                <a:ea typeface="Arial" pitchFamily="34" charset="-122"/>
                <a:cs typeface="Arial" pitchFamily="34" charset="-120"/>
              </a:rPr>
              <a:t>KPI 4</a:t>
            </a:r>
            <a:endParaRPr lang="en-US" sz="2000" dirty="0"/>
          </a:p>
        </p:txBody>
      </p:sp>
      <p:sp>
        <p:nvSpPr>
          <p:cNvPr id="15" name="Text 13"/>
          <p:cNvSpPr/>
          <p:nvPr/>
        </p:nvSpPr>
        <p:spPr>
          <a:xfrm>
            <a:off x="6456680" y="4414520"/>
            <a:ext cx="4803343" cy="5943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0F1B33"/>
                </a:solidFill>
                <a:latin typeface="Arial" pitchFamily="34" charset="0"/>
                <a:ea typeface="Arial" pitchFamily="34" charset="-122"/>
                <a:cs typeface="Arial" pitchFamily="34" charset="-120"/>
              </a:rPr>
              <a:t>Calculate the percentage increase or decrease in the amount spent on ads.</a:t>
            </a:r>
            <a:endParaRPr lang="en-US" sz="1600" dirty="0"/>
          </a:p>
        </p:txBody>
      </p:sp>
      <p:sp>
        <p:nvSpPr>
          <p:cNvPr id="16" name="Text 14"/>
          <p:cNvSpPr/>
          <p:nvPr/>
        </p:nvSpPr>
        <p:spPr>
          <a:xfrm>
            <a:off x="812800" y="6238241"/>
            <a:ext cx="588645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47A"/>
                </a:solidFill>
                <a:latin typeface="Arial" pitchFamily="34" charset="0"/>
                <a:ea typeface="Arial" pitchFamily="34" charset="-122"/>
                <a:cs typeface="Arial" pitchFamily="34" charset="-120"/>
              </a:rPr>
              <a:t>Meta channels performance </a:t>
            </a:r>
            <a:endParaRPr lang="en-US" sz="1200" dirty="0"/>
          </a:p>
        </p:txBody>
      </p:sp>
      <p:sp>
        <p:nvSpPr>
          <p:cNvPr id="17" name="Text 15"/>
          <p:cNvSpPr/>
          <p:nvPr/>
        </p:nvSpPr>
        <p:spPr>
          <a:xfrm>
            <a:off x="8108950" y="6238241"/>
            <a:ext cx="327025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B647A"/>
                </a:solidFill>
                <a:latin typeface="Arial" pitchFamily="34" charset="0"/>
                <a:ea typeface="Arial" pitchFamily="34" charset="-122"/>
                <a:cs typeface="Arial" pitchFamily="34" charset="-120"/>
              </a:rPr>
              <a:t>3</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7FA"/>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200" dirty="0">
                <a:solidFill>
                  <a:srgbClr val="2860CF"/>
                </a:solidFill>
                <a:latin typeface="Arial" pitchFamily="34" charset="0"/>
                <a:ea typeface="Arial" pitchFamily="34" charset="-122"/>
                <a:cs typeface="Arial" pitchFamily="34" charset="-120"/>
              </a:rPr>
              <a:t>THE BRIEF</a:t>
            </a:r>
            <a:endParaRPr lang="en-US" sz="1200" dirty="0"/>
          </a:p>
        </p:txBody>
      </p:sp>
      <p:sp>
        <p:nvSpPr>
          <p:cNvPr id="3" name="Text 1"/>
          <p:cNvSpPr>
            <a:spLocks noGrp="1"/>
          </p:cNvSpPr>
          <p:nvPr>
            <p:ph type="title"/>
          </p:nvPr>
        </p:nvSpPr>
        <p:spPr>
          <a:xfrm>
            <a:off x="812800" y="1229361"/>
            <a:ext cx="10883392" cy="492760"/>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0F1B33"/>
                </a:solidFill>
                <a:latin typeface="Arial" pitchFamily="34" charset="0"/>
                <a:ea typeface="Arial" pitchFamily="34" charset="-122"/>
                <a:cs typeface="Arial" pitchFamily="34" charset="-120"/>
              </a:rPr>
              <a:t>Terminology</a:t>
            </a:r>
            <a:endParaRPr lang="en-US" sz="3200" dirty="0"/>
          </a:p>
        </p:txBody>
      </p:sp>
      <p:sp>
        <p:nvSpPr>
          <p:cNvPr id="4" name="Shape 2"/>
          <p:cNvSpPr/>
          <p:nvPr/>
        </p:nvSpPr>
        <p:spPr>
          <a:xfrm>
            <a:off x="815975" y="1953895"/>
            <a:ext cx="3414157" cy="1370330"/>
          </a:xfrm>
          <a:prstGeom prst="roundRect">
            <a:avLst>
              <a:gd name="adj" fmla="val 9036"/>
            </a:avLst>
          </a:prstGeom>
          <a:solidFill>
            <a:srgbClr val="FCFCFD"/>
          </a:solidFill>
          <a:ln w="6350">
            <a:solidFill>
              <a:srgbClr val="DDE1EA"/>
            </a:solidFill>
            <a:prstDash val="solid"/>
          </a:ln>
        </p:spPr>
        <p:txBody>
          <a:bodyPr/>
          <a:lstStyle/>
          <a:p>
            <a:endParaRPr lang="en-US"/>
          </a:p>
        </p:txBody>
      </p:sp>
      <p:sp>
        <p:nvSpPr>
          <p:cNvPr id="5" name="Text 3"/>
          <p:cNvSpPr/>
          <p:nvPr/>
        </p:nvSpPr>
        <p:spPr>
          <a:xfrm>
            <a:off x="1021080" y="2159000"/>
            <a:ext cx="3094065"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F1B33"/>
                </a:solidFill>
                <a:latin typeface="Arial" pitchFamily="34" charset="0"/>
                <a:ea typeface="Arial" pitchFamily="34" charset="-122"/>
                <a:cs typeface="Arial" pitchFamily="34" charset="-120"/>
              </a:rPr>
              <a:t>Ad Account</a:t>
            </a:r>
            <a:endParaRPr lang="en-US" sz="1600" dirty="0"/>
          </a:p>
        </p:txBody>
      </p:sp>
      <p:sp>
        <p:nvSpPr>
          <p:cNvPr id="6" name="Text 4"/>
          <p:cNvSpPr/>
          <p:nvPr/>
        </p:nvSpPr>
        <p:spPr>
          <a:xfrm>
            <a:off x="1021080" y="2479041"/>
            <a:ext cx="3094065" cy="66548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6506A"/>
                </a:solidFill>
                <a:latin typeface="Arial" pitchFamily="34" charset="0"/>
                <a:ea typeface="Arial" pitchFamily="34" charset="-122"/>
                <a:cs typeface="Arial" pitchFamily="34" charset="-120"/>
              </a:rPr>
              <a:t>The Meta Ads Manager profile that holds payment methods, campaigns, tracking pixels and permissions.</a:t>
            </a:r>
            <a:endParaRPr lang="en-US" sz="1200" dirty="0"/>
          </a:p>
        </p:txBody>
      </p:sp>
      <p:sp>
        <p:nvSpPr>
          <p:cNvPr id="7" name="Shape 5"/>
          <p:cNvSpPr/>
          <p:nvPr/>
        </p:nvSpPr>
        <p:spPr>
          <a:xfrm>
            <a:off x="4388882" y="1953895"/>
            <a:ext cx="3414157" cy="1370330"/>
          </a:xfrm>
          <a:prstGeom prst="roundRect">
            <a:avLst>
              <a:gd name="adj" fmla="val 9036"/>
            </a:avLst>
          </a:prstGeom>
          <a:solidFill>
            <a:srgbClr val="FCFCFD"/>
          </a:solidFill>
          <a:ln w="6350">
            <a:solidFill>
              <a:srgbClr val="DDE1EA"/>
            </a:solidFill>
            <a:prstDash val="solid"/>
          </a:ln>
        </p:spPr>
        <p:txBody>
          <a:bodyPr/>
          <a:lstStyle/>
          <a:p>
            <a:endParaRPr lang="en-US"/>
          </a:p>
        </p:txBody>
      </p:sp>
      <p:sp>
        <p:nvSpPr>
          <p:cNvPr id="8" name="Text 6"/>
          <p:cNvSpPr/>
          <p:nvPr/>
        </p:nvSpPr>
        <p:spPr>
          <a:xfrm>
            <a:off x="4593987" y="2159000"/>
            <a:ext cx="3094065"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F1B33"/>
                </a:solidFill>
                <a:latin typeface="Arial" pitchFamily="34" charset="0"/>
                <a:ea typeface="Arial" pitchFamily="34" charset="-122"/>
                <a:cs typeface="Arial" pitchFamily="34" charset="-120"/>
              </a:rPr>
              <a:t>Paid Impressions</a:t>
            </a:r>
            <a:endParaRPr lang="en-US" sz="1600" dirty="0"/>
          </a:p>
        </p:txBody>
      </p:sp>
      <p:sp>
        <p:nvSpPr>
          <p:cNvPr id="9" name="Text 7"/>
          <p:cNvSpPr/>
          <p:nvPr/>
        </p:nvSpPr>
        <p:spPr>
          <a:xfrm>
            <a:off x="4593987" y="2479041"/>
            <a:ext cx="3094065"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6506A"/>
                </a:solidFill>
                <a:latin typeface="Arial" pitchFamily="34" charset="0"/>
                <a:ea typeface="Arial" pitchFamily="34" charset="-122"/>
                <a:cs typeface="Arial" pitchFamily="34" charset="-120"/>
              </a:rPr>
              <a:t>Total times ads were shown on a screen, counting repeat views by the same person.</a:t>
            </a:r>
            <a:endParaRPr lang="en-US" sz="1200" dirty="0"/>
          </a:p>
        </p:txBody>
      </p:sp>
      <p:sp>
        <p:nvSpPr>
          <p:cNvPr id="10" name="Shape 8"/>
          <p:cNvSpPr/>
          <p:nvPr/>
        </p:nvSpPr>
        <p:spPr>
          <a:xfrm>
            <a:off x="7961789" y="1953895"/>
            <a:ext cx="3414157" cy="1370330"/>
          </a:xfrm>
          <a:prstGeom prst="roundRect">
            <a:avLst>
              <a:gd name="adj" fmla="val 9036"/>
            </a:avLst>
          </a:prstGeom>
          <a:solidFill>
            <a:srgbClr val="FCFCFD"/>
          </a:solidFill>
          <a:ln w="6350">
            <a:solidFill>
              <a:srgbClr val="DDE1EA"/>
            </a:solidFill>
            <a:prstDash val="solid"/>
          </a:ln>
        </p:spPr>
        <p:txBody>
          <a:bodyPr/>
          <a:lstStyle/>
          <a:p>
            <a:endParaRPr lang="en-US"/>
          </a:p>
        </p:txBody>
      </p:sp>
      <p:sp>
        <p:nvSpPr>
          <p:cNvPr id="11" name="Text 9"/>
          <p:cNvSpPr/>
          <p:nvPr/>
        </p:nvSpPr>
        <p:spPr>
          <a:xfrm>
            <a:off x="8166894" y="2159000"/>
            <a:ext cx="3094065"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F1B33"/>
                </a:solidFill>
                <a:latin typeface="Arial" pitchFamily="34" charset="0"/>
                <a:ea typeface="Arial" pitchFamily="34" charset="-122"/>
                <a:cs typeface="Arial" pitchFamily="34" charset="-120"/>
              </a:rPr>
              <a:t>Paid Reach</a:t>
            </a:r>
            <a:endParaRPr lang="en-US" sz="1600" dirty="0"/>
          </a:p>
        </p:txBody>
      </p:sp>
      <p:sp>
        <p:nvSpPr>
          <p:cNvPr id="12" name="Text 10"/>
          <p:cNvSpPr/>
          <p:nvPr/>
        </p:nvSpPr>
        <p:spPr>
          <a:xfrm>
            <a:off x="8166894" y="2479041"/>
            <a:ext cx="3094065"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6506A"/>
                </a:solidFill>
                <a:latin typeface="Arial" pitchFamily="34" charset="0"/>
                <a:ea typeface="Arial" pitchFamily="34" charset="-122"/>
                <a:cs typeface="Arial" pitchFamily="34" charset="-120"/>
              </a:rPr>
              <a:t>Individual people who saw a paid ad at least once. Each person is counted once.</a:t>
            </a:r>
            <a:endParaRPr lang="en-US" sz="1200" dirty="0"/>
          </a:p>
        </p:txBody>
      </p:sp>
      <p:sp>
        <p:nvSpPr>
          <p:cNvPr id="13" name="Shape 11"/>
          <p:cNvSpPr/>
          <p:nvPr/>
        </p:nvSpPr>
        <p:spPr>
          <a:xfrm>
            <a:off x="815975" y="3482975"/>
            <a:ext cx="3414157" cy="1370330"/>
          </a:xfrm>
          <a:prstGeom prst="roundRect">
            <a:avLst>
              <a:gd name="adj" fmla="val 9036"/>
            </a:avLst>
          </a:prstGeom>
          <a:solidFill>
            <a:srgbClr val="FCFCFD"/>
          </a:solidFill>
          <a:ln w="6350">
            <a:solidFill>
              <a:srgbClr val="DDE1EA"/>
            </a:solidFill>
            <a:prstDash val="solid"/>
          </a:ln>
        </p:spPr>
        <p:txBody>
          <a:bodyPr/>
          <a:lstStyle/>
          <a:p>
            <a:endParaRPr lang="en-US"/>
          </a:p>
        </p:txBody>
      </p:sp>
      <p:sp>
        <p:nvSpPr>
          <p:cNvPr id="14" name="Text 12"/>
          <p:cNvSpPr/>
          <p:nvPr/>
        </p:nvSpPr>
        <p:spPr>
          <a:xfrm>
            <a:off x="1021080" y="3688080"/>
            <a:ext cx="3094065"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F1B33"/>
                </a:solidFill>
                <a:latin typeface="Arial" pitchFamily="34" charset="0"/>
                <a:ea typeface="Arial" pitchFamily="34" charset="-122"/>
                <a:cs typeface="Arial" pitchFamily="34" charset="-120"/>
              </a:rPr>
              <a:t>Amount Spent</a:t>
            </a:r>
            <a:endParaRPr lang="en-US" sz="1600" dirty="0"/>
          </a:p>
        </p:txBody>
      </p:sp>
      <p:sp>
        <p:nvSpPr>
          <p:cNvPr id="15" name="Text 13"/>
          <p:cNvSpPr/>
          <p:nvPr/>
        </p:nvSpPr>
        <p:spPr>
          <a:xfrm>
            <a:off x="1021080" y="4008120"/>
            <a:ext cx="3094065"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6506A"/>
                </a:solidFill>
                <a:latin typeface="Arial" pitchFamily="34" charset="0"/>
                <a:ea typeface="Arial" pitchFamily="34" charset="-122"/>
                <a:cs typeface="Arial" pitchFamily="34" charset="-120"/>
              </a:rPr>
              <a:t>Gross amount billed by Meta to the ad account to run campaigns in the period.</a:t>
            </a:r>
            <a:endParaRPr lang="en-US" sz="1200" dirty="0"/>
          </a:p>
        </p:txBody>
      </p:sp>
      <p:sp>
        <p:nvSpPr>
          <p:cNvPr id="16" name="Shape 14"/>
          <p:cNvSpPr/>
          <p:nvPr/>
        </p:nvSpPr>
        <p:spPr>
          <a:xfrm>
            <a:off x="4388882" y="3482975"/>
            <a:ext cx="3414157" cy="1370330"/>
          </a:xfrm>
          <a:prstGeom prst="roundRect">
            <a:avLst>
              <a:gd name="adj" fmla="val 9036"/>
            </a:avLst>
          </a:prstGeom>
          <a:solidFill>
            <a:srgbClr val="FCFCFD"/>
          </a:solidFill>
          <a:ln w="6350">
            <a:solidFill>
              <a:srgbClr val="DDE1EA"/>
            </a:solidFill>
            <a:prstDash val="solid"/>
          </a:ln>
        </p:spPr>
        <p:txBody>
          <a:bodyPr/>
          <a:lstStyle/>
          <a:p>
            <a:endParaRPr lang="en-US"/>
          </a:p>
        </p:txBody>
      </p:sp>
      <p:sp>
        <p:nvSpPr>
          <p:cNvPr id="17" name="Text 15"/>
          <p:cNvSpPr/>
          <p:nvPr/>
        </p:nvSpPr>
        <p:spPr>
          <a:xfrm>
            <a:off x="4593987" y="3688080"/>
            <a:ext cx="3094065"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F1B33"/>
                </a:solidFill>
                <a:latin typeface="Arial" pitchFamily="34" charset="0"/>
                <a:ea typeface="Arial" pitchFamily="34" charset="-122"/>
                <a:cs typeface="Arial" pitchFamily="34" charset="-120"/>
              </a:rPr>
              <a:t>Reach Growth Rate</a:t>
            </a:r>
            <a:endParaRPr lang="en-US" sz="1600" dirty="0"/>
          </a:p>
        </p:txBody>
      </p:sp>
      <p:sp>
        <p:nvSpPr>
          <p:cNvPr id="18" name="Text 16"/>
          <p:cNvSpPr/>
          <p:nvPr/>
        </p:nvSpPr>
        <p:spPr>
          <a:xfrm>
            <a:off x="4593987" y="4008120"/>
            <a:ext cx="3094065" cy="66548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6506A"/>
                </a:solidFill>
                <a:latin typeface="Arial" pitchFamily="34" charset="0"/>
                <a:ea typeface="Arial" pitchFamily="34" charset="-122"/>
                <a:cs typeface="Arial" pitchFamily="34" charset="-120"/>
              </a:rPr>
              <a:t>Percentage change in unique users reached (paid and organic) from one month to the next.</a:t>
            </a:r>
            <a:endParaRPr lang="en-US" sz="1200" dirty="0"/>
          </a:p>
        </p:txBody>
      </p:sp>
      <p:sp>
        <p:nvSpPr>
          <p:cNvPr id="19" name="Shape 17"/>
          <p:cNvSpPr/>
          <p:nvPr/>
        </p:nvSpPr>
        <p:spPr>
          <a:xfrm>
            <a:off x="7961789" y="3482975"/>
            <a:ext cx="3414157" cy="1370330"/>
          </a:xfrm>
          <a:prstGeom prst="roundRect">
            <a:avLst>
              <a:gd name="adj" fmla="val 9036"/>
            </a:avLst>
          </a:prstGeom>
          <a:solidFill>
            <a:srgbClr val="FCFCFD"/>
          </a:solidFill>
          <a:ln w="6350">
            <a:solidFill>
              <a:srgbClr val="DDE1EA"/>
            </a:solidFill>
            <a:prstDash val="solid"/>
          </a:ln>
        </p:spPr>
        <p:txBody>
          <a:bodyPr/>
          <a:lstStyle/>
          <a:p>
            <a:endParaRPr lang="en-US"/>
          </a:p>
        </p:txBody>
      </p:sp>
      <p:sp>
        <p:nvSpPr>
          <p:cNvPr id="20" name="Text 18"/>
          <p:cNvSpPr/>
          <p:nvPr/>
        </p:nvSpPr>
        <p:spPr>
          <a:xfrm>
            <a:off x="8166894" y="3688080"/>
            <a:ext cx="3094065"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F1B33"/>
                </a:solidFill>
                <a:latin typeface="Arial" pitchFamily="34" charset="0"/>
                <a:ea typeface="Arial" pitchFamily="34" charset="-122"/>
                <a:cs typeface="Arial" pitchFamily="34" charset="-120"/>
              </a:rPr>
              <a:t>Audience Velocity</a:t>
            </a:r>
            <a:endParaRPr lang="en-US" sz="1600" dirty="0"/>
          </a:p>
        </p:txBody>
      </p:sp>
      <p:sp>
        <p:nvSpPr>
          <p:cNvPr id="21" name="Text 19"/>
          <p:cNvSpPr/>
          <p:nvPr/>
        </p:nvSpPr>
        <p:spPr>
          <a:xfrm>
            <a:off x="8166894" y="4008120"/>
            <a:ext cx="3094065" cy="66548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6506A"/>
                </a:solidFill>
                <a:latin typeface="Arial" pitchFamily="34" charset="0"/>
                <a:ea typeface="Arial" pitchFamily="34" charset="-122"/>
                <a:cs typeface="Arial" pitchFamily="34" charset="-120"/>
              </a:rPr>
              <a:t>Monthly rate at which new fans opt in by liking on Facebook or following on Instagram.</a:t>
            </a:r>
            <a:endParaRPr lang="en-US" sz="1200" dirty="0"/>
          </a:p>
        </p:txBody>
      </p:sp>
      <p:sp>
        <p:nvSpPr>
          <p:cNvPr id="22" name="Text 20"/>
          <p:cNvSpPr/>
          <p:nvPr/>
        </p:nvSpPr>
        <p:spPr>
          <a:xfrm>
            <a:off x="812800" y="6238241"/>
            <a:ext cx="588645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47A"/>
                </a:solidFill>
                <a:latin typeface="Arial" pitchFamily="34" charset="0"/>
                <a:ea typeface="Arial" pitchFamily="34" charset="-122"/>
                <a:cs typeface="Arial" pitchFamily="34" charset="-120"/>
              </a:rPr>
              <a:t>Meta channels performance </a:t>
            </a:r>
            <a:endParaRPr lang="en-US" sz="1200" dirty="0"/>
          </a:p>
        </p:txBody>
      </p:sp>
      <p:sp>
        <p:nvSpPr>
          <p:cNvPr id="23" name="Text 21"/>
          <p:cNvSpPr/>
          <p:nvPr/>
        </p:nvSpPr>
        <p:spPr>
          <a:xfrm>
            <a:off x="8108950" y="6238241"/>
            <a:ext cx="327025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B647A"/>
                </a:solidFill>
                <a:latin typeface="Arial" pitchFamily="34" charset="0"/>
                <a:ea typeface="Arial" pitchFamily="34" charset="-122"/>
                <a:cs typeface="Arial" pitchFamily="34" charset="-120"/>
              </a:rPr>
              <a:t>4</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7FA"/>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200" dirty="0">
                <a:solidFill>
                  <a:srgbClr val="2860CF"/>
                </a:solidFill>
                <a:latin typeface="Arial" pitchFamily="34" charset="0"/>
                <a:ea typeface="Arial" pitchFamily="34" charset="-122"/>
                <a:cs typeface="Arial" pitchFamily="34" charset="-120"/>
              </a:rPr>
              <a:t>RESULTS</a:t>
            </a:r>
            <a:endParaRPr lang="en-US" sz="1200" dirty="0"/>
          </a:p>
        </p:txBody>
      </p:sp>
      <p:sp>
        <p:nvSpPr>
          <p:cNvPr id="3" name="Text 1"/>
          <p:cNvSpPr>
            <a:spLocks noGrp="1"/>
          </p:cNvSpPr>
          <p:nvPr>
            <p:ph type="title"/>
          </p:nvPr>
        </p:nvSpPr>
        <p:spPr>
          <a:xfrm>
            <a:off x="812800" y="1229361"/>
            <a:ext cx="10883392" cy="492760"/>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0F1B33"/>
                </a:solidFill>
                <a:latin typeface="Arial" pitchFamily="34" charset="0"/>
                <a:ea typeface="Arial" pitchFamily="34" charset="-122"/>
                <a:cs typeface="Arial" pitchFamily="34" charset="-120"/>
              </a:rPr>
              <a:t>Dashboard summary</a:t>
            </a:r>
            <a:endParaRPr lang="en-US" sz="3200" dirty="0"/>
          </a:p>
        </p:txBody>
      </p:sp>
      <p:sp>
        <p:nvSpPr>
          <p:cNvPr id="6" name="Shape 3"/>
          <p:cNvSpPr/>
          <p:nvPr/>
        </p:nvSpPr>
        <p:spPr>
          <a:xfrm>
            <a:off x="7496810" y="1899920"/>
            <a:ext cx="0" cy="581660"/>
          </a:xfrm>
          <a:prstGeom prst="line">
            <a:avLst/>
          </a:prstGeom>
          <a:noFill/>
          <a:ln w="38100">
            <a:solidFill>
              <a:srgbClr val="1B8A7A"/>
            </a:solidFill>
            <a:prstDash val="solid"/>
          </a:ln>
        </p:spPr>
        <p:txBody>
          <a:bodyPr/>
          <a:lstStyle/>
          <a:p>
            <a:endParaRPr lang="en-US"/>
          </a:p>
        </p:txBody>
      </p:sp>
      <p:sp>
        <p:nvSpPr>
          <p:cNvPr id="7" name="Text 4"/>
          <p:cNvSpPr/>
          <p:nvPr/>
        </p:nvSpPr>
        <p:spPr>
          <a:xfrm>
            <a:off x="7665720" y="1899920"/>
            <a:ext cx="3824884"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0F1B33"/>
                </a:solidFill>
                <a:latin typeface="Arial" pitchFamily="34" charset="0"/>
                <a:ea typeface="Arial" pitchFamily="34" charset="-122"/>
                <a:cs typeface="Arial" pitchFamily="34" charset="-120"/>
              </a:rPr>
              <a:t>£4,959.04</a:t>
            </a:r>
            <a:endParaRPr lang="en-US" sz="2000" dirty="0"/>
          </a:p>
        </p:txBody>
      </p:sp>
      <p:sp>
        <p:nvSpPr>
          <p:cNvPr id="8" name="Text 5"/>
          <p:cNvSpPr/>
          <p:nvPr/>
        </p:nvSpPr>
        <p:spPr>
          <a:xfrm>
            <a:off x="7665720" y="2268220"/>
            <a:ext cx="3824884"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6506A"/>
                </a:solidFill>
                <a:latin typeface="Arial" pitchFamily="34" charset="0"/>
                <a:ea typeface="Arial" pitchFamily="34" charset="-122"/>
                <a:cs typeface="Arial" pitchFamily="34" charset="-120"/>
              </a:rPr>
              <a:t>Total ad spending</a:t>
            </a:r>
            <a:endParaRPr lang="en-US" sz="1200" dirty="0"/>
          </a:p>
        </p:txBody>
      </p:sp>
      <p:sp>
        <p:nvSpPr>
          <p:cNvPr id="9" name="Shape 6"/>
          <p:cNvSpPr/>
          <p:nvPr/>
        </p:nvSpPr>
        <p:spPr>
          <a:xfrm>
            <a:off x="7496810" y="2608580"/>
            <a:ext cx="0" cy="581660"/>
          </a:xfrm>
          <a:prstGeom prst="line">
            <a:avLst/>
          </a:prstGeom>
          <a:noFill/>
          <a:ln w="38100">
            <a:solidFill>
              <a:srgbClr val="2860CF"/>
            </a:solidFill>
            <a:prstDash val="solid"/>
          </a:ln>
        </p:spPr>
        <p:txBody>
          <a:bodyPr/>
          <a:lstStyle/>
          <a:p>
            <a:endParaRPr lang="en-US"/>
          </a:p>
        </p:txBody>
      </p:sp>
      <p:sp>
        <p:nvSpPr>
          <p:cNvPr id="10" name="Text 7"/>
          <p:cNvSpPr/>
          <p:nvPr/>
        </p:nvSpPr>
        <p:spPr>
          <a:xfrm>
            <a:off x="7665720" y="2608580"/>
            <a:ext cx="3824884"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0F1B33"/>
                </a:solidFill>
                <a:latin typeface="Arial" pitchFamily="34" charset="0"/>
                <a:ea typeface="Arial" pitchFamily="34" charset="-122"/>
                <a:cs typeface="Arial" pitchFamily="34" charset="-120"/>
              </a:rPr>
              <a:t>856,741</a:t>
            </a:r>
            <a:endParaRPr lang="en-US" sz="2000" dirty="0"/>
          </a:p>
        </p:txBody>
      </p:sp>
      <p:sp>
        <p:nvSpPr>
          <p:cNvPr id="11" name="Text 8"/>
          <p:cNvSpPr/>
          <p:nvPr/>
        </p:nvSpPr>
        <p:spPr>
          <a:xfrm>
            <a:off x="7665720" y="2976880"/>
            <a:ext cx="3824884"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6506A"/>
                </a:solidFill>
                <a:latin typeface="Arial" pitchFamily="34" charset="0"/>
                <a:ea typeface="Arial" pitchFamily="34" charset="-122"/>
                <a:cs typeface="Arial" pitchFamily="34" charset="-120"/>
              </a:rPr>
              <a:t>Facebook Page reach (sum of daily)</a:t>
            </a:r>
            <a:endParaRPr lang="en-US" sz="1200" dirty="0"/>
          </a:p>
        </p:txBody>
      </p:sp>
      <p:sp>
        <p:nvSpPr>
          <p:cNvPr id="12" name="Shape 9"/>
          <p:cNvSpPr/>
          <p:nvPr/>
        </p:nvSpPr>
        <p:spPr>
          <a:xfrm>
            <a:off x="7496810" y="3317241"/>
            <a:ext cx="0" cy="581660"/>
          </a:xfrm>
          <a:prstGeom prst="line">
            <a:avLst/>
          </a:prstGeom>
          <a:noFill/>
          <a:ln w="38100">
            <a:solidFill>
              <a:srgbClr val="E8833A"/>
            </a:solidFill>
            <a:prstDash val="solid"/>
          </a:ln>
        </p:spPr>
        <p:txBody>
          <a:bodyPr/>
          <a:lstStyle/>
          <a:p>
            <a:endParaRPr lang="en-US"/>
          </a:p>
        </p:txBody>
      </p:sp>
      <p:sp>
        <p:nvSpPr>
          <p:cNvPr id="13" name="Text 10"/>
          <p:cNvSpPr/>
          <p:nvPr/>
        </p:nvSpPr>
        <p:spPr>
          <a:xfrm>
            <a:off x="7665720" y="3317241"/>
            <a:ext cx="3824884"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0F1B33"/>
                </a:solidFill>
                <a:latin typeface="Arial" pitchFamily="34" charset="0"/>
                <a:ea typeface="Arial" pitchFamily="34" charset="-122"/>
                <a:cs typeface="Arial" pitchFamily="34" charset="-120"/>
              </a:rPr>
              <a:t>191,037</a:t>
            </a:r>
            <a:endParaRPr lang="en-US" sz="2000" dirty="0"/>
          </a:p>
        </p:txBody>
      </p:sp>
      <p:sp>
        <p:nvSpPr>
          <p:cNvPr id="14" name="Text 11"/>
          <p:cNvSpPr/>
          <p:nvPr/>
        </p:nvSpPr>
        <p:spPr>
          <a:xfrm>
            <a:off x="7665720" y="3685541"/>
            <a:ext cx="3824884"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6506A"/>
                </a:solidFill>
                <a:latin typeface="Arial" pitchFamily="34" charset="0"/>
                <a:ea typeface="Arial" pitchFamily="34" charset="-122"/>
                <a:cs typeface="Arial" pitchFamily="34" charset="-120"/>
              </a:rPr>
              <a:t>Instagram reach (sum of daily)</a:t>
            </a:r>
            <a:endParaRPr lang="en-US" sz="1200" dirty="0"/>
          </a:p>
        </p:txBody>
      </p:sp>
      <p:sp>
        <p:nvSpPr>
          <p:cNvPr id="15" name="Shape 12"/>
          <p:cNvSpPr/>
          <p:nvPr/>
        </p:nvSpPr>
        <p:spPr>
          <a:xfrm>
            <a:off x="7496810" y="4025900"/>
            <a:ext cx="0" cy="581660"/>
          </a:xfrm>
          <a:prstGeom prst="line">
            <a:avLst/>
          </a:prstGeom>
          <a:noFill/>
          <a:ln w="38100">
            <a:solidFill>
              <a:srgbClr val="2860CF"/>
            </a:solidFill>
            <a:prstDash val="solid"/>
          </a:ln>
        </p:spPr>
        <p:txBody>
          <a:bodyPr/>
          <a:lstStyle/>
          <a:p>
            <a:endParaRPr lang="en-US"/>
          </a:p>
        </p:txBody>
      </p:sp>
      <p:sp>
        <p:nvSpPr>
          <p:cNvPr id="16" name="Text 13"/>
          <p:cNvSpPr/>
          <p:nvPr/>
        </p:nvSpPr>
        <p:spPr>
          <a:xfrm>
            <a:off x="7665720" y="4025900"/>
            <a:ext cx="3824884"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0F1B33"/>
                </a:solidFill>
                <a:latin typeface="Arial" pitchFamily="34" charset="0"/>
                <a:ea typeface="Arial" pitchFamily="34" charset="-122"/>
                <a:cs typeface="Arial" pitchFamily="34" charset="-120"/>
              </a:rPr>
              <a:t>3,089</a:t>
            </a:r>
            <a:endParaRPr lang="en-US" sz="2000" dirty="0"/>
          </a:p>
        </p:txBody>
      </p:sp>
      <p:sp>
        <p:nvSpPr>
          <p:cNvPr id="17" name="Text 14"/>
          <p:cNvSpPr/>
          <p:nvPr/>
        </p:nvSpPr>
        <p:spPr>
          <a:xfrm>
            <a:off x="7665720" y="4394200"/>
            <a:ext cx="3824884"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6506A"/>
                </a:solidFill>
                <a:latin typeface="Arial" pitchFamily="34" charset="0"/>
                <a:ea typeface="Arial" pitchFamily="34" charset="-122"/>
                <a:cs typeface="Arial" pitchFamily="34" charset="-120"/>
              </a:rPr>
              <a:t>Facebook Page likes gained</a:t>
            </a:r>
            <a:endParaRPr lang="en-US" sz="1200" dirty="0"/>
          </a:p>
        </p:txBody>
      </p:sp>
      <p:sp>
        <p:nvSpPr>
          <p:cNvPr id="18" name="Shape 15"/>
          <p:cNvSpPr/>
          <p:nvPr/>
        </p:nvSpPr>
        <p:spPr>
          <a:xfrm>
            <a:off x="7496810" y="4734561"/>
            <a:ext cx="0" cy="581660"/>
          </a:xfrm>
          <a:prstGeom prst="line">
            <a:avLst/>
          </a:prstGeom>
          <a:noFill/>
          <a:ln w="38100">
            <a:solidFill>
              <a:srgbClr val="E8833A"/>
            </a:solidFill>
            <a:prstDash val="solid"/>
          </a:ln>
        </p:spPr>
        <p:txBody>
          <a:bodyPr/>
          <a:lstStyle/>
          <a:p>
            <a:endParaRPr lang="en-US"/>
          </a:p>
        </p:txBody>
      </p:sp>
      <p:sp>
        <p:nvSpPr>
          <p:cNvPr id="19" name="Text 16"/>
          <p:cNvSpPr/>
          <p:nvPr/>
        </p:nvSpPr>
        <p:spPr>
          <a:xfrm>
            <a:off x="7665720" y="4734561"/>
            <a:ext cx="3824884"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0F1B33"/>
                </a:solidFill>
                <a:latin typeface="Arial" pitchFamily="34" charset="0"/>
                <a:ea typeface="Arial" pitchFamily="34" charset="-122"/>
                <a:cs typeface="Arial" pitchFamily="34" charset="-120"/>
              </a:rPr>
              <a:t>3,188</a:t>
            </a:r>
            <a:endParaRPr lang="en-US" sz="2000" dirty="0"/>
          </a:p>
        </p:txBody>
      </p:sp>
      <p:sp>
        <p:nvSpPr>
          <p:cNvPr id="20" name="Text 17"/>
          <p:cNvSpPr/>
          <p:nvPr/>
        </p:nvSpPr>
        <p:spPr>
          <a:xfrm>
            <a:off x="7665720" y="5102861"/>
            <a:ext cx="3824884"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6506A"/>
                </a:solidFill>
                <a:latin typeface="Arial" pitchFamily="34" charset="0"/>
                <a:ea typeface="Arial" pitchFamily="34" charset="-122"/>
                <a:cs typeface="Arial" pitchFamily="34" charset="-120"/>
              </a:rPr>
              <a:t>Instagram followers gained</a:t>
            </a:r>
            <a:endParaRPr lang="en-US" sz="1200" dirty="0"/>
          </a:p>
        </p:txBody>
      </p:sp>
      <p:sp>
        <p:nvSpPr>
          <p:cNvPr id="21" name="Text 18"/>
          <p:cNvSpPr/>
          <p:nvPr/>
        </p:nvSpPr>
        <p:spPr>
          <a:xfrm>
            <a:off x="812800" y="6238239"/>
            <a:ext cx="588645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47A"/>
                </a:solidFill>
                <a:latin typeface="Arial" pitchFamily="34" charset="0"/>
                <a:ea typeface="Arial" pitchFamily="34" charset="-122"/>
                <a:cs typeface="Arial" pitchFamily="34" charset="-120"/>
              </a:rPr>
              <a:t>Meta channels performance </a:t>
            </a:r>
            <a:endParaRPr lang="en-US" sz="1200" dirty="0"/>
          </a:p>
        </p:txBody>
      </p:sp>
      <p:sp>
        <p:nvSpPr>
          <p:cNvPr id="22" name="Text 19"/>
          <p:cNvSpPr/>
          <p:nvPr/>
        </p:nvSpPr>
        <p:spPr>
          <a:xfrm>
            <a:off x="8108950" y="6238239"/>
            <a:ext cx="327025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B647A"/>
                </a:solidFill>
                <a:latin typeface="Arial" pitchFamily="34" charset="0"/>
                <a:ea typeface="Arial" pitchFamily="34" charset="-122"/>
                <a:cs typeface="Arial" pitchFamily="34" charset="-120"/>
              </a:rPr>
              <a:t>5</a:t>
            </a:r>
            <a:endParaRPr lang="en-US" sz="1200" dirty="0"/>
          </a:p>
        </p:txBody>
      </p:sp>
      <p:pic>
        <p:nvPicPr>
          <p:cNvPr id="26" name="Picture 25">
            <a:extLst>
              <a:ext uri="{FF2B5EF4-FFF2-40B4-BE49-F238E27FC236}">
                <a16:creationId xmlns:a16="http://schemas.microsoft.com/office/drawing/2014/main" id="{19ECC4EB-7A12-75BB-49D4-DE48EF26A933}"/>
              </a:ext>
            </a:extLst>
          </p:cNvPr>
          <p:cNvPicPr>
            <a:picLocks noChangeAspect="1"/>
          </p:cNvPicPr>
          <p:nvPr/>
        </p:nvPicPr>
        <p:blipFill>
          <a:blip r:embed="rId3"/>
          <a:stretch>
            <a:fillRect/>
          </a:stretch>
        </p:blipFill>
        <p:spPr>
          <a:xfrm>
            <a:off x="812800" y="1772921"/>
            <a:ext cx="6510568" cy="382524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7FA"/>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200" dirty="0">
                <a:solidFill>
                  <a:srgbClr val="2860CF"/>
                </a:solidFill>
                <a:latin typeface="Arial" pitchFamily="34" charset="0"/>
                <a:ea typeface="Arial" pitchFamily="34" charset="-122"/>
                <a:cs typeface="Arial" pitchFamily="34" charset="-120"/>
              </a:rPr>
              <a:t>KPI 1</a:t>
            </a:r>
            <a:endParaRPr lang="en-US" sz="1200" dirty="0"/>
          </a:p>
        </p:txBody>
      </p:sp>
      <p:sp>
        <p:nvSpPr>
          <p:cNvPr id="3" name="Text 1"/>
          <p:cNvSpPr>
            <a:spLocks noGrp="1"/>
          </p:cNvSpPr>
          <p:nvPr>
            <p:ph type="title"/>
          </p:nvPr>
        </p:nvSpPr>
        <p:spPr>
          <a:xfrm>
            <a:off x="812800" y="1229361"/>
            <a:ext cx="10883392" cy="492760"/>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0F1B33"/>
                </a:solidFill>
                <a:latin typeface="Arial" pitchFamily="34" charset="0"/>
                <a:ea typeface="Arial" pitchFamily="34" charset="-122"/>
                <a:cs typeface="Arial" pitchFamily="34" charset="-120"/>
              </a:rPr>
              <a:t>Audience reach growth, month on month</a:t>
            </a:r>
            <a:endParaRPr lang="en-US" sz="3200" dirty="0"/>
          </a:p>
        </p:txBody>
      </p:sp>
      <p:sp>
        <p:nvSpPr>
          <p:cNvPr id="6" name="Text 3"/>
          <p:cNvSpPr/>
          <p:nvPr/>
        </p:nvSpPr>
        <p:spPr>
          <a:xfrm>
            <a:off x="762000" y="5100321"/>
            <a:ext cx="787400" cy="223520"/>
          </a:xfrm>
          <a:prstGeom prst="rect">
            <a:avLst/>
          </a:prstGeom>
          <a:noFill/>
          <a:ln/>
        </p:spPr>
        <p:txBody>
          <a:bodyPr wrap="square" lIns="0" tIns="0" rIns="0" bIns="0" rtlCol="0" anchor="t">
            <a:normAutofit/>
          </a:bodyPr>
          <a:lstStyle/>
          <a:p>
            <a:pPr marL="0" indent="0" algn="r">
              <a:lnSpc>
                <a:spcPts val="1560"/>
              </a:lnSpc>
              <a:buNone/>
            </a:pPr>
            <a:endParaRPr lang="en-US" sz="1200" dirty="0"/>
          </a:p>
        </p:txBody>
      </p:sp>
      <p:sp>
        <p:nvSpPr>
          <p:cNvPr id="7" name="Text 4"/>
          <p:cNvSpPr/>
          <p:nvPr/>
        </p:nvSpPr>
        <p:spPr>
          <a:xfrm>
            <a:off x="762000" y="4592321"/>
            <a:ext cx="787400" cy="223520"/>
          </a:xfrm>
          <a:prstGeom prst="rect">
            <a:avLst/>
          </a:prstGeom>
          <a:noFill/>
          <a:ln/>
        </p:spPr>
        <p:txBody>
          <a:bodyPr wrap="square" lIns="0" tIns="0" rIns="0" bIns="0" rtlCol="0" anchor="t">
            <a:normAutofit/>
          </a:bodyPr>
          <a:lstStyle/>
          <a:p>
            <a:pPr marL="0" indent="0" algn="r">
              <a:lnSpc>
                <a:spcPts val="1560"/>
              </a:lnSpc>
              <a:buNone/>
            </a:pPr>
            <a:endParaRPr lang="en-US" sz="1200" dirty="0"/>
          </a:p>
        </p:txBody>
      </p:sp>
      <p:sp>
        <p:nvSpPr>
          <p:cNvPr id="8" name="Text 5"/>
          <p:cNvSpPr/>
          <p:nvPr/>
        </p:nvSpPr>
        <p:spPr>
          <a:xfrm>
            <a:off x="762000" y="4084321"/>
            <a:ext cx="787400" cy="223520"/>
          </a:xfrm>
          <a:prstGeom prst="rect">
            <a:avLst/>
          </a:prstGeom>
          <a:noFill/>
          <a:ln/>
        </p:spPr>
        <p:txBody>
          <a:bodyPr wrap="square" lIns="0" tIns="0" rIns="0" bIns="0" rtlCol="0" anchor="t">
            <a:normAutofit/>
          </a:bodyPr>
          <a:lstStyle/>
          <a:p>
            <a:pPr marL="0" indent="0" algn="r">
              <a:lnSpc>
                <a:spcPts val="1560"/>
              </a:lnSpc>
              <a:buNone/>
            </a:pPr>
            <a:endParaRPr lang="en-US" sz="1200" dirty="0"/>
          </a:p>
        </p:txBody>
      </p:sp>
      <p:sp>
        <p:nvSpPr>
          <p:cNvPr id="9" name="Text 6"/>
          <p:cNvSpPr/>
          <p:nvPr/>
        </p:nvSpPr>
        <p:spPr>
          <a:xfrm>
            <a:off x="762000" y="3576321"/>
            <a:ext cx="787400" cy="223520"/>
          </a:xfrm>
          <a:prstGeom prst="rect">
            <a:avLst/>
          </a:prstGeom>
          <a:noFill/>
          <a:ln/>
        </p:spPr>
        <p:txBody>
          <a:bodyPr wrap="square" lIns="0" tIns="0" rIns="0" bIns="0" rtlCol="0" anchor="t">
            <a:normAutofit/>
          </a:bodyPr>
          <a:lstStyle/>
          <a:p>
            <a:pPr marL="0" indent="0" algn="r">
              <a:lnSpc>
                <a:spcPts val="1560"/>
              </a:lnSpc>
              <a:buNone/>
            </a:pPr>
            <a:endParaRPr lang="en-US" sz="1200" dirty="0"/>
          </a:p>
        </p:txBody>
      </p:sp>
      <p:sp>
        <p:nvSpPr>
          <p:cNvPr id="10" name="Text 7"/>
          <p:cNvSpPr/>
          <p:nvPr/>
        </p:nvSpPr>
        <p:spPr>
          <a:xfrm>
            <a:off x="762000" y="3068321"/>
            <a:ext cx="787400" cy="223520"/>
          </a:xfrm>
          <a:prstGeom prst="rect">
            <a:avLst/>
          </a:prstGeom>
          <a:noFill/>
          <a:ln/>
        </p:spPr>
        <p:txBody>
          <a:bodyPr wrap="square" lIns="0" tIns="0" rIns="0" bIns="0" rtlCol="0" anchor="t">
            <a:normAutofit/>
          </a:bodyPr>
          <a:lstStyle/>
          <a:p>
            <a:pPr marL="0" indent="0" algn="r">
              <a:lnSpc>
                <a:spcPts val="1560"/>
              </a:lnSpc>
              <a:buNone/>
            </a:pPr>
            <a:endParaRPr lang="en-US" sz="1200" dirty="0"/>
          </a:p>
        </p:txBody>
      </p:sp>
      <p:sp>
        <p:nvSpPr>
          <p:cNvPr id="11" name="Text 8"/>
          <p:cNvSpPr/>
          <p:nvPr/>
        </p:nvSpPr>
        <p:spPr>
          <a:xfrm>
            <a:off x="762000" y="2560321"/>
            <a:ext cx="787400" cy="223520"/>
          </a:xfrm>
          <a:prstGeom prst="rect">
            <a:avLst/>
          </a:prstGeom>
          <a:noFill/>
          <a:ln/>
        </p:spPr>
        <p:txBody>
          <a:bodyPr wrap="square" lIns="0" tIns="0" rIns="0" bIns="0" rtlCol="0" anchor="t">
            <a:normAutofit/>
          </a:bodyPr>
          <a:lstStyle/>
          <a:p>
            <a:pPr marL="0" indent="0" algn="r">
              <a:lnSpc>
                <a:spcPts val="1560"/>
              </a:lnSpc>
              <a:buNone/>
            </a:pPr>
            <a:endParaRPr lang="en-US" sz="1200" dirty="0"/>
          </a:p>
        </p:txBody>
      </p:sp>
      <p:sp>
        <p:nvSpPr>
          <p:cNvPr id="12" name="Text 9"/>
          <p:cNvSpPr/>
          <p:nvPr/>
        </p:nvSpPr>
        <p:spPr>
          <a:xfrm>
            <a:off x="762000" y="2052321"/>
            <a:ext cx="787400" cy="223520"/>
          </a:xfrm>
          <a:prstGeom prst="rect">
            <a:avLst/>
          </a:prstGeom>
          <a:noFill/>
          <a:ln/>
        </p:spPr>
        <p:txBody>
          <a:bodyPr wrap="square" lIns="0" tIns="0" rIns="0" bIns="0" rtlCol="0" anchor="t">
            <a:normAutofit/>
          </a:bodyPr>
          <a:lstStyle/>
          <a:p>
            <a:pPr marL="0" indent="0" algn="r">
              <a:lnSpc>
                <a:spcPts val="1560"/>
              </a:lnSpc>
              <a:buNone/>
            </a:pPr>
            <a:endParaRPr lang="en-US" sz="1200" dirty="0"/>
          </a:p>
        </p:txBody>
      </p:sp>
      <p:sp>
        <p:nvSpPr>
          <p:cNvPr id="22" name="Shape 19"/>
          <p:cNvSpPr/>
          <p:nvPr/>
        </p:nvSpPr>
        <p:spPr>
          <a:xfrm>
            <a:off x="7467600" y="1968500"/>
            <a:ext cx="177800" cy="76200"/>
          </a:xfrm>
          <a:prstGeom prst="roundRect">
            <a:avLst>
              <a:gd name="adj" fmla="val 50000"/>
            </a:avLst>
          </a:prstGeom>
          <a:solidFill>
            <a:srgbClr val="2860CF"/>
          </a:solidFill>
          <a:ln/>
        </p:spPr>
        <p:txBody>
          <a:bodyPr/>
          <a:lstStyle/>
          <a:p>
            <a:endParaRPr lang="en-US"/>
          </a:p>
        </p:txBody>
      </p:sp>
      <p:sp>
        <p:nvSpPr>
          <p:cNvPr id="23" name="Text 20"/>
          <p:cNvSpPr/>
          <p:nvPr/>
        </p:nvSpPr>
        <p:spPr>
          <a:xfrm>
            <a:off x="7721600" y="1899921"/>
            <a:ext cx="803148"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0F1B33"/>
                </a:solidFill>
                <a:latin typeface="Arial" pitchFamily="34" charset="0"/>
                <a:ea typeface="Arial" pitchFamily="34" charset="-122"/>
                <a:cs typeface="Arial" pitchFamily="34" charset="-120"/>
              </a:rPr>
              <a:t>Facebook</a:t>
            </a:r>
            <a:endParaRPr lang="en-US" sz="1200" dirty="0"/>
          </a:p>
        </p:txBody>
      </p:sp>
      <p:sp>
        <p:nvSpPr>
          <p:cNvPr id="24" name="Shape 21"/>
          <p:cNvSpPr/>
          <p:nvPr/>
        </p:nvSpPr>
        <p:spPr>
          <a:xfrm>
            <a:off x="8594090" y="1968500"/>
            <a:ext cx="177800" cy="76200"/>
          </a:xfrm>
          <a:prstGeom prst="roundRect">
            <a:avLst>
              <a:gd name="adj" fmla="val 50000"/>
            </a:avLst>
          </a:prstGeom>
          <a:solidFill>
            <a:srgbClr val="E8833A"/>
          </a:solidFill>
          <a:ln/>
        </p:spPr>
        <p:txBody>
          <a:bodyPr/>
          <a:lstStyle/>
          <a:p>
            <a:endParaRPr lang="en-US"/>
          </a:p>
        </p:txBody>
      </p:sp>
      <p:sp>
        <p:nvSpPr>
          <p:cNvPr id="25" name="Text 22"/>
          <p:cNvSpPr/>
          <p:nvPr/>
        </p:nvSpPr>
        <p:spPr>
          <a:xfrm>
            <a:off x="8848090" y="1899921"/>
            <a:ext cx="813149"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0F1B33"/>
                </a:solidFill>
                <a:latin typeface="Arial" pitchFamily="34" charset="0"/>
                <a:ea typeface="Arial" pitchFamily="34" charset="-122"/>
                <a:cs typeface="Arial" pitchFamily="34" charset="-120"/>
              </a:rPr>
              <a:t>Instagram</a:t>
            </a:r>
            <a:endParaRPr lang="en-US" sz="1200" dirty="0"/>
          </a:p>
        </p:txBody>
      </p:sp>
      <p:sp>
        <p:nvSpPr>
          <p:cNvPr id="26" name="Shape 23"/>
          <p:cNvSpPr/>
          <p:nvPr/>
        </p:nvSpPr>
        <p:spPr>
          <a:xfrm>
            <a:off x="7486650" y="2240282"/>
            <a:ext cx="0" cy="708660"/>
          </a:xfrm>
          <a:prstGeom prst="line">
            <a:avLst/>
          </a:prstGeom>
          <a:noFill/>
          <a:ln w="38100">
            <a:solidFill>
              <a:srgbClr val="2860CF"/>
            </a:solidFill>
            <a:prstDash val="solid"/>
          </a:ln>
        </p:spPr>
        <p:txBody>
          <a:bodyPr/>
          <a:lstStyle/>
          <a:p>
            <a:endParaRPr lang="en-US"/>
          </a:p>
        </p:txBody>
      </p:sp>
      <p:sp>
        <p:nvSpPr>
          <p:cNvPr id="27" name="Text 24"/>
          <p:cNvSpPr/>
          <p:nvPr/>
        </p:nvSpPr>
        <p:spPr>
          <a:xfrm>
            <a:off x="7655560" y="2240282"/>
            <a:ext cx="3835349"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F1B33"/>
                </a:solidFill>
                <a:latin typeface="Arial" pitchFamily="34" charset="0"/>
                <a:ea typeface="Arial" pitchFamily="34" charset="-122"/>
                <a:cs typeface="Arial" pitchFamily="34" charset="-120"/>
              </a:rPr>
              <a:t>Facebook swung hardest</a:t>
            </a:r>
            <a:endParaRPr lang="en-US" sz="1600" dirty="0"/>
          </a:p>
        </p:txBody>
      </p:sp>
      <p:sp>
        <p:nvSpPr>
          <p:cNvPr id="28" name="Text 25"/>
          <p:cNvSpPr/>
          <p:nvPr/>
        </p:nvSpPr>
        <p:spPr>
          <a:xfrm>
            <a:off x="7655560" y="2522221"/>
            <a:ext cx="3835349"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6506A"/>
                </a:solidFill>
                <a:latin typeface="Arial" pitchFamily="34" charset="0"/>
                <a:ea typeface="Arial" pitchFamily="34" charset="-122"/>
                <a:cs typeface="Arial" pitchFamily="34" charset="-120"/>
              </a:rPr>
              <a:t>+18.79% in February, −53.70% in March, +140.10% in April.</a:t>
            </a:r>
            <a:endParaRPr lang="en-US" sz="1200" dirty="0"/>
          </a:p>
        </p:txBody>
      </p:sp>
      <p:sp>
        <p:nvSpPr>
          <p:cNvPr id="29" name="Shape 26"/>
          <p:cNvSpPr/>
          <p:nvPr/>
        </p:nvSpPr>
        <p:spPr>
          <a:xfrm>
            <a:off x="7486650" y="3075939"/>
            <a:ext cx="0" cy="708660"/>
          </a:xfrm>
          <a:prstGeom prst="line">
            <a:avLst/>
          </a:prstGeom>
          <a:noFill/>
          <a:ln w="38100">
            <a:solidFill>
              <a:srgbClr val="E8833A"/>
            </a:solidFill>
            <a:prstDash val="solid"/>
          </a:ln>
        </p:spPr>
        <p:txBody>
          <a:bodyPr/>
          <a:lstStyle/>
          <a:p>
            <a:endParaRPr lang="en-US"/>
          </a:p>
        </p:txBody>
      </p:sp>
      <p:sp>
        <p:nvSpPr>
          <p:cNvPr id="30" name="Text 27"/>
          <p:cNvSpPr/>
          <p:nvPr/>
        </p:nvSpPr>
        <p:spPr>
          <a:xfrm>
            <a:off x="7655560" y="3075939"/>
            <a:ext cx="3835349"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F1B33"/>
                </a:solidFill>
                <a:latin typeface="Arial" pitchFamily="34" charset="0"/>
                <a:ea typeface="Arial" pitchFamily="34" charset="-122"/>
                <a:cs typeface="Arial" pitchFamily="34" charset="-120"/>
              </a:rPr>
              <a:t>Instagram fell, then partly recovered</a:t>
            </a:r>
            <a:endParaRPr lang="en-US" sz="1600" dirty="0"/>
          </a:p>
        </p:txBody>
      </p:sp>
      <p:sp>
        <p:nvSpPr>
          <p:cNvPr id="31" name="Text 28"/>
          <p:cNvSpPr/>
          <p:nvPr/>
        </p:nvSpPr>
        <p:spPr>
          <a:xfrm>
            <a:off x="7655560" y="3357882"/>
            <a:ext cx="3835349"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6506A"/>
                </a:solidFill>
                <a:latin typeface="Arial" pitchFamily="34" charset="0"/>
                <a:ea typeface="Arial" pitchFamily="34" charset="-122"/>
                <a:cs typeface="Arial" pitchFamily="34" charset="-120"/>
              </a:rPr>
              <a:t>−8.88% in February, −35.74% in March, +32.47% in April.</a:t>
            </a:r>
            <a:endParaRPr lang="en-US" sz="1200" dirty="0"/>
          </a:p>
        </p:txBody>
      </p:sp>
      <p:sp>
        <p:nvSpPr>
          <p:cNvPr id="32" name="Shape 29"/>
          <p:cNvSpPr/>
          <p:nvPr/>
        </p:nvSpPr>
        <p:spPr>
          <a:xfrm>
            <a:off x="7486650" y="3911600"/>
            <a:ext cx="0" cy="708660"/>
          </a:xfrm>
          <a:prstGeom prst="line">
            <a:avLst/>
          </a:prstGeom>
          <a:noFill/>
          <a:ln w="38100">
            <a:solidFill>
              <a:srgbClr val="0F1B33"/>
            </a:solidFill>
            <a:prstDash val="solid"/>
          </a:ln>
        </p:spPr>
        <p:txBody>
          <a:bodyPr/>
          <a:lstStyle/>
          <a:p>
            <a:endParaRPr lang="en-US"/>
          </a:p>
        </p:txBody>
      </p:sp>
      <p:sp>
        <p:nvSpPr>
          <p:cNvPr id="33" name="Text 30"/>
          <p:cNvSpPr/>
          <p:nvPr/>
        </p:nvSpPr>
        <p:spPr>
          <a:xfrm>
            <a:off x="7655560" y="3911600"/>
            <a:ext cx="3835349"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F1B33"/>
                </a:solidFill>
                <a:latin typeface="Arial" pitchFamily="34" charset="0"/>
                <a:ea typeface="Arial" pitchFamily="34" charset="-122"/>
                <a:cs typeface="Arial" pitchFamily="34" charset="-120"/>
              </a:rPr>
              <a:t>April is a rebound from a low base</a:t>
            </a:r>
            <a:endParaRPr lang="en-US" sz="1600" dirty="0"/>
          </a:p>
        </p:txBody>
      </p:sp>
      <p:sp>
        <p:nvSpPr>
          <p:cNvPr id="34" name="Text 31"/>
          <p:cNvSpPr/>
          <p:nvPr/>
        </p:nvSpPr>
        <p:spPr>
          <a:xfrm>
            <a:off x="7655560" y="4193539"/>
            <a:ext cx="3835349"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6506A"/>
                </a:solidFill>
                <a:latin typeface="Arial" pitchFamily="34" charset="0"/>
                <a:ea typeface="Arial" pitchFamily="34" charset="-122"/>
                <a:cs typeface="Arial" pitchFamily="34" charset="-120"/>
              </a:rPr>
              <a:t>Facebook April reach is only +11.2% above February; Instagram is still 14.9% below it.</a:t>
            </a:r>
            <a:endParaRPr lang="en-US" sz="1200" dirty="0"/>
          </a:p>
        </p:txBody>
      </p:sp>
      <p:sp>
        <p:nvSpPr>
          <p:cNvPr id="35" name="Text 32"/>
          <p:cNvSpPr/>
          <p:nvPr/>
        </p:nvSpPr>
        <p:spPr>
          <a:xfrm>
            <a:off x="812800" y="6238239"/>
            <a:ext cx="588645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47A"/>
                </a:solidFill>
                <a:latin typeface="Arial" pitchFamily="34" charset="0"/>
                <a:ea typeface="Arial" pitchFamily="34" charset="-122"/>
                <a:cs typeface="Arial" pitchFamily="34" charset="-120"/>
              </a:rPr>
              <a:t>Monthly reach is the sum of daily reach. January is the base month.</a:t>
            </a:r>
            <a:endParaRPr lang="en-US" sz="1200" dirty="0"/>
          </a:p>
        </p:txBody>
      </p:sp>
      <p:sp>
        <p:nvSpPr>
          <p:cNvPr id="36" name="Text 33"/>
          <p:cNvSpPr/>
          <p:nvPr/>
        </p:nvSpPr>
        <p:spPr>
          <a:xfrm>
            <a:off x="8108950" y="6238239"/>
            <a:ext cx="327025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B647A"/>
                </a:solidFill>
                <a:latin typeface="Arial" pitchFamily="34" charset="0"/>
                <a:ea typeface="Arial" pitchFamily="34" charset="-122"/>
                <a:cs typeface="Arial" pitchFamily="34" charset="-120"/>
              </a:rPr>
              <a:t>6</a:t>
            </a:r>
            <a:endParaRPr lang="en-US" sz="1200" dirty="0"/>
          </a:p>
        </p:txBody>
      </p:sp>
      <p:pic>
        <p:nvPicPr>
          <p:cNvPr id="43" name="Picture 42">
            <a:extLst>
              <a:ext uri="{FF2B5EF4-FFF2-40B4-BE49-F238E27FC236}">
                <a16:creationId xmlns:a16="http://schemas.microsoft.com/office/drawing/2014/main" id="{36989B9F-803A-ACBE-43DF-6AC16CBB4E7F}"/>
              </a:ext>
            </a:extLst>
          </p:cNvPr>
          <p:cNvPicPr>
            <a:picLocks noChangeAspect="1"/>
          </p:cNvPicPr>
          <p:nvPr/>
        </p:nvPicPr>
        <p:blipFill>
          <a:blip r:embed="rId3"/>
          <a:stretch>
            <a:fillRect/>
          </a:stretch>
        </p:blipFill>
        <p:spPr>
          <a:xfrm>
            <a:off x="812800" y="1813662"/>
            <a:ext cx="6597650" cy="4111277"/>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7FA"/>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200" dirty="0">
                <a:solidFill>
                  <a:srgbClr val="2860CF"/>
                </a:solidFill>
                <a:latin typeface="Arial" pitchFamily="34" charset="0"/>
                <a:ea typeface="Arial" pitchFamily="34" charset="-122"/>
                <a:cs typeface="Arial" pitchFamily="34" charset="-120"/>
              </a:rPr>
              <a:t>KPI 2</a:t>
            </a:r>
            <a:endParaRPr lang="en-US" sz="1200" dirty="0"/>
          </a:p>
        </p:txBody>
      </p:sp>
      <p:sp>
        <p:nvSpPr>
          <p:cNvPr id="3" name="Text 1"/>
          <p:cNvSpPr>
            <a:spLocks noGrp="1"/>
          </p:cNvSpPr>
          <p:nvPr>
            <p:ph type="title"/>
          </p:nvPr>
        </p:nvSpPr>
        <p:spPr>
          <a:xfrm>
            <a:off x="812800" y="1229361"/>
            <a:ext cx="10883392" cy="492760"/>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0F1B33"/>
                </a:solidFill>
                <a:latin typeface="Arial" pitchFamily="34" charset="0"/>
                <a:ea typeface="Arial" pitchFamily="34" charset="-122"/>
                <a:cs typeface="Arial" pitchFamily="34" charset="-120"/>
              </a:rPr>
              <a:t>Facebook Page likes vs Instagram followers</a:t>
            </a:r>
            <a:endParaRPr lang="en-US" sz="3200" dirty="0"/>
          </a:p>
        </p:txBody>
      </p:sp>
      <p:sp>
        <p:nvSpPr>
          <p:cNvPr id="22" name="Shape 19"/>
          <p:cNvSpPr/>
          <p:nvPr/>
        </p:nvSpPr>
        <p:spPr>
          <a:xfrm>
            <a:off x="7467600" y="1968500"/>
            <a:ext cx="177800" cy="76200"/>
          </a:xfrm>
          <a:prstGeom prst="roundRect">
            <a:avLst>
              <a:gd name="adj" fmla="val 50000"/>
            </a:avLst>
          </a:prstGeom>
          <a:solidFill>
            <a:srgbClr val="2860CF"/>
          </a:solidFill>
          <a:ln/>
        </p:spPr>
        <p:txBody>
          <a:bodyPr/>
          <a:lstStyle/>
          <a:p>
            <a:endParaRPr lang="en-US"/>
          </a:p>
        </p:txBody>
      </p:sp>
      <p:sp>
        <p:nvSpPr>
          <p:cNvPr id="23" name="Text 20"/>
          <p:cNvSpPr/>
          <p:nvPr/>
        </p:nvSpPr>
        <p:spPr>
          <a:xfrm>
            <a:off x="7721600" y="1899921"/>
            <a:ext cx="1219756"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0F1B33"/>
                </a:solidFill>
                <a:latin typeface="Arial" pitchFamily="34" charset="0"/>
                <a:ea typeface="Arial" pitchFamily="34" charset="-122"/>
                <a:cs typeface="Arial" pitchFamily="34" charset="-120"/>
              </a:rPr>
              <a:t>Facebook likes</a:t>
            </a:r>
            <a:endParaRPr lang="en-US" sz="1200" dirty="0"/>
          </a:p>
        </p:txBody>
      </p:sp>
      <p:sp>
        <p:nvSpPr>
          <p:cNvPr id="24" name="Shape 21"/>
          <p:cNvSpPr/>
          <p:nvPr/>
        </p:nvSpPr>
        <p:spPr>
          <a:xfrm>
            <a:off x="8941356" y="1968500"/>
            <a:ext cx="177800" cy="76200"/>
          </a:xfrm>
          <a:prstGeom prst="roundRect">
            <a:avLst>
              <a:gd name="adj" fmla="val 50000"/>
            </a:avLst>
          </a:prstGeom>
          <a:solidFill>
            <a:srgbClr val="E8833A"/>
          </a:solidFill>
          <a:ln/>
        </p:spPr>
        <p:txBody>
          <a:bodyPr/>
          <a:lstStyle/>
          <a:p>
            <a:endParaRPr lang="en-US"/>
          </a:p>
        </p:txBody>
      </p:sp>
      <p:sp>
        <p:nvSpPr>
          <p:cNvPr id="25" name="Text 22"/>
          <p:cNvSpPr/>
          <p:nvPr/>
        </p:nvSpPr>
        <p:spPr>
          <a:xfrm>
            <a:off x="9195356" y="1899921"/>
            <a:ext cx="1585627"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0F1B33"/>
                </a:solidFill>
                <a:latin typeface="Arial" pitchFamily="34" charset="0"/>
                <a:ea typeface="Arial" pitchFamily="34" charset="-122"/>
                <a:cs typeface="Arial" pitchFamily="34" charset="-120"/>
              </a:rPr>
              <a:t>Instagram followers</a:t>
            </a:r>
            <a:endParaRPr lang="en-US" sz="1200" dirty="0"/>
          </a:p>
        </p:txBody>
      </p:sp>
      <p:sp>
        <p:nvSpPr>
          <p:cNvPr id="26" name="Shape 23"/>
          <p:cNvSpPr/>
          <p:nvPr/>
        </p:nvSpPr>
        <p:spPr>
          <a:xfrm>
            <a:off x="7486650" y="2240282"/>
            <a:ext cx="0" cy="708660"/>
          </a:xfrm>
          <a:prstGeom prst="line">
            <a:avLst/>
          </a:prstGeom>
          <a:noFill/>
          <a:ln w="38100">
            <a:solidFill>
              <a:srgbClr val="0F1B33"/>
            </a:solidFill>
            <a:prstDash val="solid"/>
          </a:ln>
        </p:spPr>
        <p:txBody>
          <a:bodyPr/>
          <a:lstStyle/>
          <a:p>
            <a:endParaRPr lang="en-US"/>
          </a:p>
        </p:txBody>
      </p:sp>
      <p:sp>
        <p:nvSpPr>
          <p:cNvPr id="27" name="Text 24"/>
          <p:cNvSpPr/>
          <p:nvPr/>
        </p:nvSpPr>
        <p:spPr>
          <a:xfrm>
            <a:off x="7655560" y="2240282"/>
            <a:ext cx="3835349"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F1B33"/>
                </a:solidFill>
                <a:latin typeface="Arial" pitchFamily="34" charset="0"/>
                <a:ea typeface="Arial" pitchFamily="34" charset="-122"/>
                <a:cs typeface="Arial" pitchFamily="34" charset="-120"/>
              </a:rPr>
              <a:t>Near parity overall</a:t>
            </a:r>
            <a:endParaRPr lang="en-US" sz="1600" dirty="0"/>
          </a:p>
        </p:txBody>
      </p:sp>
      <p:sp>
        <p:nvSpPr>
          <p:cNvPr id="28" name="Text 25"/>
          <p:cNvSpPr/>
          <p:nvPr/>
        </p:nvSpPr>
        <p:spPr>
          <a:xfrm>
            <a:off x="7655560" y="2522221"/>
            <a:ext cx="3835349"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6506A"/>
                </a:solidFill>
                <a:latin typeface="Arial" pitchFamily="34" charset="0"/>
                <a:ea typeface="Arial" pitchFamily="34" charset="-122"/>
                <a:cs typeface="Arial" pitchFamily="34" charset="-120"/>
              </a:rPr>
              <a:t>3,089 Facebook likes and 3,188 Instagram followers over four months.</a:t>
            </a:r>
            <a:endParaRPr lang="en-US" sz="1200" dirty="0"/>
          </a:p>
        </p:txBody>
      </p:sp>
      <p:sp>
        <p:nvSpPr>
          <p:cNvPr id="29" name="Shape 26"/>
          <p:cNvSpPr/>
          <p:nvPr/>
        </p:nvSpPr>
        <p:spPr>
          <a:xfrm>
            <a:off x="7486650" y="3075939"/>
            <a:ext cx="0" cy="495300"/>
          </a:xfrm>
          <a:prstGeom prst="line">
            <a:avLst/>
          </a:prstGeom>
          <a:noFill/>
          <a:ln w="38100">
            <a:solidFill>
              <a:srgbClr val="2860CF"/>
            </a:solidFill>
            <a:prstDash val="solid"/>
          </a:ln>
        </p:spPr>
        <p:txBody>
          <a:bodyPr/>
          <a:lstStyle/>
          <a:p>
            <a:endParaRPr lang="en-US"/>
          </a:p>
        </p:txBody>
      </p:sp>
      <p:sp>
        <p:nvSpPr>
          <p:cNvPr id="30" name="Text 27"/>
          <p:cNvSpPr/>
          <p:nvPr/>
        </p:nvSpPr>
        <p:spPr>
          <a:xfrm>
            <a:off x="7655560" y="3075939"/>
            <a:ext cx="3835349"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F1B33"/>
                </a:solidFill>
                <a:latin typeface="Arial" pitchFamily="34" charset="0"/>
                <a:ea typeface="Arial" pitchFamily="34" charset="-122"/>
                <a:cs typeface="Arial" pitchFamily="34" charset="-120"/>
              </a:rPr>
              <a:t>Facebook led early</a:t>
            </a:r>
            <a:endParaRPr lang="en-US" sz="1600" dirty="0"/>
          </a:p>
        </p:txBody>
      </p:sp>
      <p:sp>
        <p:nvSpPr>
          <p:cNvPr id="31" name="Text 28"/>
          <p:cNvSpPr/>
          <p:nvPr/>
        </p:nvSpPr>
        <p:spPr>
          <a:xfrm>
            <a:off x="7655560" y="3357882"/>
            <a:ext cx="3835349"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6506A"/>
                </a:solidFill>
                <a:latin typeface="Arial" pitchFamily="34" charset="0"/>
                <a:ea typeface="Arial" pitchFamily="34" charset="-122"/>
                <a:cs typeface="Arial" pitchFamily="34" charset="-120"/>
              </a:rPr>
              <a:t>January 1,219 vs 949 and February 962 vs 806.</a:t>
            </a:r>
            <a:endParaRPr lang="en-US" sz="1200" dirty="0"/>
          </a:p>
        </p:txBody>
      </p:sp>
      <p:sp>
        <p:nvSpPr>
          <p:cNvPr id="32" name="Shape 29"/>
          <p:cNvSpPr/>
          <p:nvPr/>
        </p:nvSpPr>
        <p:spPr>
          <a:xfrm>
            <a:off x="7486650" y="3698239"/>
            <a:ext cx="0" cy="708660"/>
          </a:xfrm>
          <a:prstGeom prst="line">
            <a:avLst/>
          </a:prstGeom>
          <a:noFill/>
          <a:ln w="38100">
            <a:solidFill>
              <a:srgbClr val="E8833A"/>
            </a:solidFill>
            <a:prstDash val="solid"/>
          </a:ln>
        </p:spPr>
        <p:txBody>
          <a:bodyPr/>
          <a:lstStyle/>
          <a:p>
            <a:endParaRPr lang="en-US"/>
          </a:p>
        </p:txBody>
      </p:sp>
      <p:sp>
        <p:nvSpPr>
          <p:cNvPr id="33" name="Text 30"/>
          <p:cNvSpPr/>
          <p:nvPr/>
        </p:nvSpPr>
        <p:spPr>
          <a:xfrm>
            <a:off x="7655560" y="3698239"/>
            <a:ext cx="3835349"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F1B33"/>
                </a:solidFill>
                <a:latin typeface="Arial" pitchFamily="34" charset="0"/>
                <a:ea typeface="Arial" pitchFamily="34" charset="-122"/>
                <a:cs typeface="Arial" pitchFamily="34" charset="-120"/>
              </a:rPr>
              <a:t>Instagram led from March</a:t>
            </a:r>
            <a:endParaRPr lang="en-US" sz="1600" dirty="0"/>
          </a:p>
        </p:txBody>
      </p:sp>
      <p:sp>
        <p:nvSpPr>
          <p:cNvPr id="34" name="Text 31"/>
          <p:cNvSpPr/>
          <p:nvPr/>
        </p:nvSpPr>
        <p:spPr>
          <a:xfrm>
            <a:off x="7655560" y="3980182"/>
            <a:ext cx="3835349"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6506A"/>
                </a:solidFill>
                <a:latin typeface="Arial" pitchFamily="34" charset="0"/>
                <a:ea typeface="Arial" pitchFamily="34" charset="-122"/>
                <a:cs typeface="Arial" pitchFamily="34" charset="-120"/>
              </a:rPr>
              <a:t>March 621 vs 417 and April 812 vs 491. January to March, Instagram fell 34.6% and Facebook 65.8%.</a:t>
            </a:r>
            <a:endParaRPr lang="en-US" sz="1200" dirty="0"/>
          </a:p>
        </p:txBody>
      </p:sp>
      <p:sp>
        <p:nvSpPr>
          <p:cNvPr id="35" name="Text 32"/>
          <p:cNvSpPr/>
          <p:nvPr/>
        </p:nvSpPr>
        <p:spPr>
          <a:xfrm>
            <a:off x="812800" y="6238239"/>
            <a:ext cx="588645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47A"/>
                </a:solidFill>
                <a:latin typeface="Arial" pitchFamily="34" charset="0"/>
                <a:ea typeface="Arial" pitchFamily="34" charset="-122"/>
                <a:cs typeface="Arial" pitchFamily="34" charset="-120"/>
              </a:rPr>
              <a:t>New likes and followers gained per month.</a:t>
            </a:r>
            <a:endParaRPr lang="en-US" sz="1200" dirty="0"/>
          </a:p>
        </p:txBody>
      </p:sp>
      <p:sp>
        <p:nvSpPr>
          <p:cNvPr id="36" name="Text 33"/>
          <p:cNvSpPr/>
          <p:nvPr/>
        </p:nvSpPr>
        <p:spPr>
          <a:xfrm>
            <a:off x="8108950" y="6238239"/>
            <a:ext cx="327025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B647A"/>
                </a:solidFill>
                <a:latin typeface="Arial" pitchFamily="34" charset="0"/>
                <a:ea typeface="Arial" pitchFamily="34" charset="-122"/>
                <a:cs typeface="Arial" pitchFamily="34" charset="-120"/>
              </a:rPr>
              <a:t>7</a:t>
            </a:r>
            <a:endParaRPr lang="en-US" sz="1200" dirty="0"/>
          </a:p>
        </p:txBody>
      </p:sp>
      <p:pic>
        <p:nvPicPr>
          <p:cNvPr id="38" name="Picture 37">
            <a:extLst>
              <a:ext uri="{FF2B5EF4-FFF2-40B4-BE49-F238E27FC236}">
                <a16:creationId xmlns:a16="http://schemas.microsoft.com/office/drawing/2014/main" id="{69C1E8D4-6591-D096-5CD2-410264093C54}"/>
              </a:ext>
            </a:extLst>
          </p:cNvPr>
          <p:cNvPicPr>
            <a:picLocks noChangeAspect="1"/>
          </p:cNvPicPr>
          <p:nvPr/>
        </p:nvPicPr>
        <p:blipFill>
          <a:blip r:embed="rId3"/>
          <a:stretch>
            <a:fillRect/>
          </a:stretch>
        </p:blipFill>
        <p:spPr>
          <a:xfrm>
            <a:off x="812800" y="1791169"/>
            <a:ext cx="5977024" cy="3610946"/>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7FA"/>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200" dirty="0">
                <a:solidFill>
                  <a:srgbClr val="2860CF"/>
                </a:solidFill>
                <a:latin typeface="Arial" pitchFamily="34" charset="0"/>
                <a:ea typeface="Arial" pitchFamily="34" charset="-122"/>
                <a:cs typeface="Arial" pitchFamily="34" charset="-120"/>
              </a:rPr>
              <a:t>KPI 3</a:t>
            </a:r>
            <a:endParaRPr lang="en-US" sz="1200" dirty="0"/>
          </a:p>
        </p:txBody>
      </p:sp>
      <p:sp>
        <p:nvSpPr>
          <p:cNvPr id="3" name="Text 1"/>
          <p:cNvSpPr>
            <a:spLocks noGrp="1"/>
          </p:cNvSpPr>
          <p:nvPr>
            <p:ph type="title"/>
          </p:nvPr>
        </p:nvSpPr>
        <p:spPr>
          <a:xfrm>
            <a:off x="812800" y="1229361"/>
            <a:ext cx="10883392" cy="492760"/>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0F1B33"/>
                </a:solidFill>
                <a:latin typeface="Arial" pitchFamily="34" charset="0"/>
                <a:ea typeface="Arial" pitchFamily="34" charset="-122"/>
                <a:cs typeface="Arial" pitchFamily="34" charset="-120"/>
              </a:rPr>
              <a:t>Total ad spend trend</a:t>
            </a:r>
            <a:endParaRPr lang="en-US" sz="3200" dirty="0"/>
          </a:p>
        </p:txBody>
      </p:sp>
      <p:sp>
        <p:nvSpPr>
          <p:cNvPr id="19" name="Shape 16"/>
          <p:cNvSpPr/>
          <p:nvPr/>
        </p:nvSpPr>
        <p:spPr>
          <a:xfrm>
            <a:off x="7486650" y="1899921"/>
            <a:ext cx="0" cy="769620"/>
          </a:xfrm>
          <a:prstGeom prst="line">
            <a:avLst/>
          </a:prstGeom>
          <a:noFill/>
          <a:ln w="38100">
            <a:solidFill>
              <a:srgbClr val="1B8A7A"/>
            </a:solidFill>
            <a:prstDash val="solid"/>
          </a:ln>
        </p:spPr>
        <p:txBody>
          <a:bodyPr/>
          <a:lstStyle/>
          <a:p>
            <a:endParaRPr lang="en-US"/>
          </a:p>
        </p:txBody>
      </p:sp>
      <p:sp>
        <p:nvSpPr>
          <p:cNvPr id="20" name="Text 17"/>
          <p:cNvSpPr/>
          <p:nvPr/>
        </p:nvSpPr>
        <p:spPr>
          <a:xfrm>
            <a:off x="7655560" y="1899921"/>
            <a:ext cx="3835349"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0F1B33"/>
                </a:solidFill>
                <a:latin typeface="Arial" pitchFamily="34" charset="0"/>
                <a:ea typeface="Arial" pitchFamily="34" charset="-122"/>
                <a:cs typeface="Arial" pitchFamily="34" charset="-120"/>
              </a:rPr>
              <a:t>£4,959</a:t>
            </a:r>
            <a:endParaRPr lang="en-US" sz="2000" dirty="0"/>
          </a:p>
        </p:txBody>
      </p:sp>
      <p:sp>
        <p:nvSpPr>
          <p:cNvPr id="21" name="Text 18"/>
          <p:cNvSpPr/>
          <p:nvPr/>
        </p:nvSpPr>
        <p:spPr>
          <a:xfrm>
            <a:off x="7655560" y="2242821"/>
            <a:ext cx="3835349"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6506A"/>
                </a:solidFill>
                <a:latin typeface="Arial" pitchFamily="34" charset="0"/>
                <a:ea typeface="Arial" pitchFamily="34" charset="-122"/>
                <a:cs typeface="Arial" pitchFamily="34" charset="-120"/>
              </a:rPr>
              <a:t>Total spend over four months, an average of £1,239 a month.</a:t>
            </a:r>
            <a:endParaRPr lang="en-US" sz="1200" dirty="0"/>
          </a:p>
        </p:txBody>
      </p:sp>
      <p:sp>
        <p:nvSpPr>
          <p:cNvPr id="22" name="Shape 19"/>
          <p:cNvSpPr/>
          <p:nvPr/>
        </p:nvSpPr>
        <p:spPr>
          <a:xfrm>
            <a:off x="7486650" y="2796539"/>
            <a:ext cx="0" cy="708660"/>
          </a:xfrm>
          <a:prstGeom prst="line">
            <a:avLst/>
          </a:prstGeom>
          <a:noFill/>
          <a:ln w="38100">
            <a:solidFill>
              <a:srgbClr val="0F1B33"/>
            </a:solidFill>
            <a:prstDash val="solid"/>
          </a:ln>
        </p:spPr>
        <p:txBody>
          <a:bodyPr/>
          <a:lstStyle/>
          <a:p>
            <a:endParaRPr lang="en-US"/>
          </a:p>
        </p:txBody>
      </p:sp>
      <p:sp>
        <p:nvSpPr>
          <p:cNvPr id="23" name="Text 20"/>
          <p:cNvSpPr/>
          <p:nvPr/>
        </p:nvSpPr>
        <p:spPr>
          <a:xfrm>
            <a:off x="7655560" y="2796539"/>
            <a:ext cx="3835349"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F1B33"/>
                </a:solidFill>
                <a:latin typeface="Arial" pitchFamily="34" charset="0"/>
                <a:ea typeface="Arial" pitchFamily="34" charset="-122"/>
                <a:cs typeface="Arial" pitchFamily="34" charset="-120"/>
              </a:rPr>
              <a:t>March was the low point</a:t>
            </a:r>
            <a:endParaRPr lang="en-US" sz="1600" dirty="0"/>
          </a:p>
        </p:txBody>
      </p:sp>
      <p:sp>
        <p:nvSpPr>
          <p:cNvPr id="24" name="Text 21"/>
          <p:cNvSpPr/>
          <p:nvPr/>
        </p:nvSpPr>
        <p:spPr>
          <a:xfrm>
            <a:off x="7655560" y="3078482"/>
            <a:ext cx="3835349"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6506A"/>
                </a:solidFill>
                <a:latin typeface="Arial" pitchFamily="34" charset="0"/>
                <a:ea typeface="Arial" pitchFamily="34" charset="-122"/>
                <a:cs typeface="Arial" pitchFamily="34" charset="-120"/>
              </a:rPr>
              <a:t>£642. Spending was £0 on 7–8 March and about £2 a day on 14–21 March.</a:t>
            </a:r>
            <a:endParaRPr lang="en-US" sz="1200" dirty="0"/>
          </a:p>
        </p:txBody>
      </p:sp>
      <p:sp>
        <p:nvSpPr>
          <p:cNvPr id="25" name="Shape 22"/>
          <p:cNvSpPr/>
          <p:nvPr/>
        </p:nvSpPr>
        <p:spPr>
          <a:xfrm>
            <a:off x="7486650" y="3632200"/>
            <a:ext cx="0" cy="708660"/>
          </a:xfrm>
          <a:prstGeom prst="line">
            <a:avLst/>
          </a:prstGeom>
          <a:noFill/>
          <a:ln w="38100">
            <a:solidFill>
              <a:srgbClr val="0F1B33"/>
            </a:solidFill>
            <a:prstDash val="solid"/>
          </a:ln>
        </p:spPr>
        <p:txBody>
          <a:bodyPr/>
          <a:lstStyle/>
          <a:p>
            <a:endParaRPr lang="en-US"/>
          </a:p>
        </p:txBody>
      </p:sp>
      <p:sp>
        <p:nvSpPr>
          <p:cNvPr id="26" name="Text 23"/>
          <p:cNvSpPr/>
          <p:nvPr/>
        </p:nvSpPr>
        <p:spPr>
          <a:xfrm>
            <a:off x="7655560" y="3632200"/>
            <a:ext cx="3835349"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F1B33"/>
                </a:solidFill>
                <a:latin typeface="Arial" pitchFamily="34" charset="0"/>
                <a:ea typeface="Arial" pitchFamily="34" charset="-122"/>
                <a:cs typeface="Arial" pitchFamily="34" charset="-120"/>
              </a:rPr>
              <a:t>April was the peak</a:t>
            </a:r>
            <a:endParaRPr lang="en-US" sz="1600" dirty="0"/>
          </a:p>
        </p:txBody>
      </p:sp>
      <p:sp>
        <p:nvSpPr>
          <p:cNvPr id="27" name="Text 24"/>
          <p:cNvSpPr/>
          <p:nvPr/>
        </p:nvSpPr>
        <p:spPr>
          <a:xfrm>
            <a:off x="7655560" y="3914139"/>
            <a:ext cx="3835349" cy="452120"/>
          </a:xfrm>
          <a:prstGeom prst="rect">
            <a:avLst/>
          </a:prstGeom>
          <a:noFill/>
          <a:ln/>
        </p:spPr>
        <p:txBody>
          <a:bodyPr wrap="square" lIns="0" tIns="0" rIns="0" bIns="0" rtlCol="0" anchor="t">
            <a:normAutofit/>
          </a:bodyPr>
          <a:lstStyle/>
          <a:p>
            <a:pPr>
              <a:lnSpc>
                <a:spcPts val="1680"/>
              </a:lnSpc>
            </a:pPr>
            <a:r>
              <a:rPr lang="en-US" sz="1200" dirty="0">
                <a:solidFill>
                  <a:srgbClr val="46506A"/>
                </a:solidFill>
                <a:latin typeface="Arial" pitchFamily="34" charset="0"/>
                <a:ea typeface="Arial" pitchFamily="34" charset="-122"/>
                <a:cs typeface="Arial" pitchFamily="34" charset="-120"/>
              </a:rPr>
              <a:t>£1,920 in April, 89.7% higher than January and 38.8% higher than February.</a:t>
            </a:r>
            <a:endParaRPr lang="en-US" sz="1200" dirty="0"/>
          </a:p>
        </p:txBody>
      </p:sp>
      <p:sp>
        <p:nvSpPr>
          <p:cNvPr id="28" name="Shape 25"/>
          <p:cNvSpPr/>
          <p:nvPr/>
        </p:nvSpPr>
        <p:spPr>
          <a:xfrm>
            <a:off x="7486650" y="4467861"/>
            <a:ext cx="0" cy="708660"/>
          </a:xfrm>
          <a:prstGeom prst="line">
            <a:avLst/>
          </a:prstGeom>
          <a:noFill/>
          <a:ln w="38100">
            <a:solidFill>
              <a:srgbClr val="C2452D"/>
            </a:solidFill>
            <a:prstDash val="solid"/>
          </a:ln>
        </p:spPr>
        <p:txBody>
          <a:bodyPr/>
          <a:lstStyle/>
          <a:p>
            <a:endParaRPr lang="en-US"/>
          </a:p>
        </p:txBody>
      </p:sp>
      <p:sp>
        <p:nvSpPr>
          <p:cNvPr id="29" name="Text 26"/>
          <p:cNvSpPr/>
          <p:nvPr/>
        </p:nvSpPr>
        <p:spPr>
          <a:xfrm>
            <a:off x="7655560" y="4467861"/>
            <a:ext cx="3835349"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F1B33"/>
                </a:solidFill>
                <a:latin typeface="Arial" pitchFamily="34" charset="0"/>
                <a:ea typeface="Arial" pitchFamily="34" charset="-122"/>
                <a:cs typeface="Arial" pitchFamily="34" charset="-120"/>
              </a:rPr>
              <a:t>Cause still unconfirmed</a:t>
            </a:r>
            <a:endParaRPr lang="en-US" sz="1600" dirty="0"/>
          </a:p>
        </p:txBody>
      </p:sp>
      <p:sp>
        <p:nvSpPr>
          <p:cNvPr id="30" name="Text 27"/>
          <p:cNvSpPr/>
          <p:nvPr/>
        </p:nvSpPr>
        <p:spPr>
          <a:xfrm>
            <a:off x="7655560" y="4749800"/>
            <a:ext cx="3835349"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6506A"/>
                </a:solidFill>
                <a:latin typeface="Arial" pitchFamily="34" charset="0"/>
                <a:ea typeface="Arial" pitchFamily="34" charset="-122"/>
                <a:cs typeface="Arial" pitchFamily="34" charset="-120"/>
              </a:rPr>
              <a:t>A deliberate cut, a pause or an exhausted budget would look alike in the data.</a:t>
            </a:r>
            <a:endParaRPr lang="en-US" sz="1200" dirty="0"/>
          </a:p>
        </p:txBody>
      </p:sp>
      <p:sp>
        <p:nvSpPr>
          <p:cNvPr id="31" name="Text 28"/>
          <p:cNvSpPr/>
          <p:nvPr/>
        </p:nvSpPr>
        <p:spPr>
          <a:xfrm>
            <a:off x="812800" y="6238239"/>
            <a:ext cx="7194550" cy="238760"/>
          </a:xfrm>
          <a:prstGeom prst="rect">
            <a:avLst/>
          </a:prstGeom>
          <a:noFill/>
          <a:ln/>
        </p:spPr>
        <p:txBody>
          <a:bodyPr wrap="square" lIns="0" tIns="0" rIns="0" bIns="0" rtlCol="0" anchor="t">
            <a:normAutofit/>
          </a:bodyPr>
          <a:lstStyle/>
          <a:p>
            <a:pPr marL="0" indent="0" algn="l">
              <a:lnSpc>
                <a:spcPts val="1680"/>
              </a:lnSpc>
              <a:buNone/>
            </a:pPr>
            <a:endParaRPr lang="en-US" sz="1200" dirty="0"/>
          </a:p>
        </p:txBody>
      </p:sp>
      <p:sp>
        <p:nvSpPr>
          <p:cNvPr id="32" name="Text 29"/>
          <p:cNvSpPr/>
          <p:nvPr/>
        </p:nvSpPr>
        <p:spPr>
          <a:xfrm>
            <a:off x="8108950" y="6238239"/>
            <a:ext cx="327025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B647A"/>
                </a:solidFill>
                <a:latin typeface="Arial" pitchFamily="34" charset="0"/>
                <a:ea typeface="Arial" pitchFamily="34" charset="-122"/>
                <a:cs typeface="Arial" pitchFamily="34" charset="-120"/>
              </a:rPr>
              <a:t>8</a:t>
            </a:r>
            <a:endParaRPr lang="en-US" sz="1200" dirty="0"/>
          </a:p>
        </p:txBody>
      </p:sp>
      <p:pic>
        <p:nvPicPr>
          <p:cNvPr id="34" name="Picture 33">
            <a:extLst>
              <a:ext uri="{FF2B5EF4-FFF2-40B4-BE49-F238E27FC236}">
                <a16:creationId xmlns:a16="http://schemas.microsoft.com/office/drawing/2014/main" id="{51169722-89AD-9153-20AA-B45583E9C758}"/>
              </a:ext>
            </a:extLst>
          </p:cNvPr>
          <p:cNvPicPr>
            <a:picLocks noChangeAspect="1"/>
          </p:cNvPicPr>
          <p:nvPr/>
        </p:nvPicPr>
        <p:blipFill>
          <a:blip r:embed="rId3"/>
          <a:stretch>
            <a:fillRect/>
          </a:stretch>
        </p:blipFill>
        <p:spPr>
          <a:xfrm>
            <a:off x="812800" y="1882141"/>
            <a:ext cx="6311382" cy="3769358"/>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7FA"/>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200" dirty="0">
                <a:solidFill>
                  <a:srgbClr val="2860CF"/>
                </a:solidFill>
                <a:latin typeface="Arial" pitchFamily="34" charset="0"/>
                <a:ea typeface="Arial" pitchFamily="34" charset="-122"/>
                <a:cs typeface="Arial" pitchFamily="34" charset="-120"/>
              </a:rPr>
              <a:t>KPI 4</a:t>
            </a:r>
            <a:endParaRPr lang="en-US" sz="1200" dirty="0"/>
          </a:p>
        </p:txBody>
      </p:sp>
      <p:sp>
        <p:nvSpPr>
          <p:cNvPr id="3" name="Text 1"/>
          <p:cNvSpPr>
            <a:spLocks noGrp="1"/>
          </p:cNvSpPr>
          <p:nvPr>
            <p:ph type="title"/>
          </p:nvPr>
        </p:nvSpPr>
        <p:spPr>
          <a:xfrm>
            <a:off x="812800" y="1229361"/>
            <a:ext cx="10883392" cy="492760"/>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0F1B33"/>
                </a:solidFill>
                <a:latin typeface="Arial" pitchFamily="34" charset="0"/>
                <a:ea typeface="Arial" pitchFamily="34" charset="-122"/>
                <a:cs typeface="Arial" pitchFamily="34" charset="-120"/>
              </a:rPr>
              <a:t>Month-on-month change in ad spend</a:t>
            </a:r>
            <a:endParaRPr lang="en-US" sz="3200" dirty="0"/>
          </a:p>
        </p:txBody>
      </p:sp>
      <p:sp>
        <p:nvSpPr>
          <p:cNvPr id="18" name="Shape 15"/>
          <p:cNvSpPr/>
          <p:nvPr/>
        </p:nvSpPr>
        <p:spPr>
          <a:xfrm>
            <a:off x="7486650" y="1899921"/>
            <a:ext cx="0" cy="495300"/>
          </a:xfrm>
          <a:prstGeom prst="line">
            <a:avLst/>
          </a:prstGeom>
          <a:noFill/>
          <a:ln w="38100">
            <a:solidFill>
              <a:srgbClr val="1B8A7A"/>
            </a:solidFill>
            <a:prstDash val="solid"/>
          </a:ln>
        </p:spPr>
        <p:txBody>
          <a:bodyPr/>
          <a:lstStyle/>
          <a:p>
            <a:endParaRPr lang="en-US"/>
          </a:p>
        </p:txBody>
      </p:sp>
      <p:sp>
        <p:nvSpPr>
          <p:cNvPr id="19" name="Text 16"/>
          <p:cNvSpPr/>
          <p:nvPr/>
        </p:nvSpPr>
        <p:spPr>
          <a:xfrm>
            <a:off x="7655560" y="1899921"/>
            <a:ext cx="3835349"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F1B33"/>
                </a:solidFill>
                <a:latin typeface="Arial" pitchFamily="34" charset="0"/>
                <a:ea typeface="Arial" pitchFamily="34" charset="-122"/>
                <a:cs typeface="Arial" pitchFamily="34" charset="-120"/>
              </a:rPr>
              <a:t>February: spend up</a:t>
            </a:r>
            <a:endParaRPr lang="en-US" sz="1600" dirty="0"/>
          </a:p>
        </p:txBody>
      </p:sp>
      <p:sp>
        <p:nvSpPr>
          <p:cNvPr id="20" name="Text 17"/>
          <p:cNvSpPr/>
          <p:nvPr/>
        </p:nvSpPr>
        <p:spPr>
          <a:xfrm>
            <a:off x="7655560" y="2181861"/>
            <a:ext cx="3835349"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6506A"/>
                </a:solidFill>
                <a:latin typeface="Arial" pitchFamily="34" charset="0"/>
                <a:ea typeface="Arial" pitchFamily="34" charset="-122"/>
                <a:cs typeface="Arial" pitchFamily="34" charset="-120"/>
              </a:rPr>
              <a:t>+36.61%, from £1,013 to £1,383.</a:t>
            </a:r>
            <a:endParaRPr lang="en-US" sz="1200" dirty="0"/>
          </a:p>
        </p:txBody>
      </p:sp>
      <p:sp>
        <p:nvSpPr>
          <p:cNvPr id="21" name="Shape 18"/>
          <p:cNvSpPr/>
          <p:nvPr/>
        </p:nvSpPr>
        <p:spPr>
          <a:xfrm>
            <a:off x="7486650" y="2522221"/>
            <a:ext cx="0" cy="708660"/>
          </a:xfrm>
          <a:prstGeom prst="line">
            <a:avLst/>
          </a:prstGeom>
          <a:noFill/>
          <a:ln w="38100">
            <a:solidFill>
              <a:srgbClr val="C2452D"/>
            </a:solidFill>
            <a:prstDash val="solid"/>
          </a:ln>
        </p:spPr>
        <p:txBody>
          <a:bodyPr/>
          <a:lstStyle/>
          <a:p>
            <a:endParaRPr lang="en-US"/>
          </a:p>
        </p:txBody>
      </p:sp>
      <p:sp>
        <p:nvSpPr>
          <p:cNvPr id="22" name="Text 19"/>
          <p:cNvSpPr/>
          <p:nvPr/>
        </p:nvSpPr>
        <p:spPr>
          <a:xfrm>
            <a:off x="7655560" y="2522221"/>
            <a:ext cx="3835349"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F1B33"/>
                </a:solidFill>
                <a:latin typeface="Arial" pitchFamily="34" charset="0"/>
                <a:ea typeface="Arial" pitchFamily="34" charset="-122"/>
                <a:cs typeface="Arial" pitchFamily="34" charset="-120"/>
              </a:rPr>
              <a:t>March: spend down</a:t>
            </a:r>
            <a:endParaRPr lang="en-US" sz="1600" dirty="0"/>
          </a:p>
        </p:txBody>
      </p:sp>
      <p:sp>
        <p:nvSpPr>
          <p:cNvPr id="23" name="Text 20"/>
          <p:cNvSpPr/>
          <p:nvPr/>
        </p:nvSpPr>
        <p:spPr>
          <a:xfrm>
            <a:off x="7655560" y="2804161"/>
            <a:ext cx="3835349"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6506A"/>
                </a:solidFill>
                <a:latin typeface="Arial" pitchFamily="34" charset="0"/>
                <a:ea typeface="Arial" pitchFamily="34" charset="-122"/>
                <a:cs typeface="Arial" pitchFamily="34" charset="-120"/>
              </a:rPr>
              <a:t>−53.53%, to £643, the lowest month. Ad delivery stopped or dropped to about £2 a day on several days.</a:t>
            </a:r>
            <a:endParaRPr lang="en-US" sz="1200" dirty="0"/>
          </a:p>
        </p:txBody>
      </p:sp>
      <p:sp>
        <p:nvSpPr>
          <p:cNvPr id="24" name="Shape 21"/>
          <p:cNvSpPr/>
          <p:nvPr/>
        </p:nvSpPr>
        <p:spPr>
          <a:xfrm>
            <a:off x="7486650" y="3357882"/>
            <a:ext cx="0" cy="922020"/>
          </a:xfrm>
          <a:prstGeom prst="line">
            <a:avLst/>
          </a:prstGeom>
          <a:noFill/>
          <a:ln w="38100">
            <a:solidFill>
              <a:srgbClr val="1B8A7A"/>
            </a:solidFill>
            <a:prstDash val="solid"/>
          </a:ln>
        </p:spPr>
        <p:txBody>
          <a:bodyPr/>
          <a:lstStyle/>
          <a:p>
            <a:endParaRPr lang="en-US"/>
          </a:p>
        </p:txBody>
      </p:sp>
      <p:sp>
        <p:nvSpPr>
          <p:cNvPr id="25" name="Text 22"/>
          <p:cNvSpPr/>
          <p:nvPr/>
        </p:nvSpPr>
        <p:spPr>
          <a:xfrm>
            <a:off x="7655560" y="3357882"/>
            <a:ext cx="3835349"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F1B33"/>
                </a:solidFill>
                <a:latin typeface="Arial" pitchFamily="34" charset="0"/>
                <a:ea typeface="Arial" pitchFamily="34" charset="-122"/>
                <a:cs typeface="Arial" pitchFamily="34" charset="-120"/>
              </a:rPr>
              <a:t>April: spend surged</a:t>
            </a:r>
            <a:endParaRPr lang="en-US" sz="1600" dirty="0"/>
          </a:p>
        </p:txBody>
      </p:sp>
      <p:sp>
        <p:nvSpPr>
          <p:cNvPr id="26" name="Text 23"/>
          <p:cNvSpPr/>
          <p:nvPr/>
        </p:nvSpPr>
        <p:spPr>
          <a:xfrm>
            <a:off x="7655560" y="3639821"/>
            <a:ext cx="3835349" cy="66548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6506A"/>
                </a:solidFill>
                <a:latin typeface="Arial" pitchFamily="34" charset="0"/>
                <a:ea typeface="Arial" pitchFamily="34" charset="-122"/>
                <a:cs typeface="Arial" pitchFamily="34" charset="-120"/>
              </a:rPr>
              <a:t>+198.74%, to £1,920. Compared with February, the rise is +38.8%, so most of the percentage comes from the low March base.</a:t>
            </a:r>
            <a:endParaRPr lang="en-US" sz="1200" dirty="0"/>
          </a:p>
        </p:txBody>
      </p:sp>
      <p:sp>
        <p:nvSpPr>
          <p:cNvPr id="27" name="Text 24"/>
          <p:cNvSpPr/>
          <p:nvPr/>
        </p:nvSpPr>
        <p:spPr>
          <a:xfrm>
            <a:off x="812800" y="6238242"/>
            <a:ext cx="719455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47A"/>
                </a:solidFill>
                <a:latin typeface="Arial" pitchFamily="34" charset="0"/>
                <a:ea typeface="Arial" pitchFamily="34" charset="-122"/>
                <a:cs typeface="Arial" pitchFamily="34" charset="-120"/>
              </a:rPr>
              <a:t>Percentage change versus the previous month.</a:t>
            </a:r>
            <a:endParaRPr lang="en-US" sz="1200" dirty="0"/>
          </a:p>
        </p:txBody>
      </p:sp>
      <p:sp>
        <p:nvSpPr>
          <p:cNvPr id="28" name="Text 25"/>
          <p:cNvSpPr/>
          <p:nvPr/>
        </p:nvSpPr>
        <p:spPr>
          <a:xfrm>
            <a:off x="8108950" y="6238242"/>
            <a:ext cx="327025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B647A"/>
                </a:solidFill>
                <a:latin typeface="Arial" pitchFamily="34" charset="0"/>
                <a:ea typeface="Arial" pitchFamily="34" charset="-122"/>
                <a:cs typeface="Arial" pitchFamily="34" charset="-120"/>
              </a:rPr>
              <a:t>9</a:t>
            </a:r>
            <a:endParaRPr lang="en-US" sz="1200" dirty="0"/>
          </a:p>
        </p:txBody>
      </p:sp>
      <p:pic>
        <p:nvPicPr>
          <p:cNvPr id="30" name="Picture 29">
            <a:extLst>
              <a:ext uri="{FF2B5EF4-FFF2-40B4-BE49-F238E27FC236}">
                <a16:creationId xmlns:a16="http://schemas.microsoft.com/office/drawing/2014/main" id="{7E12CF27-C067-6B7D-01FA-448E91DB86DB}"/>
              </a:ext>
            </a:extLst>
          </p:cNvPr>
          <p:cNvPicPr>
            <a:picLocks noChangeAspect="1"/>
          </p:cNvPicPr>
          <p:nvPr/>
        </p:nvPicPr>
        <p:blipFill>
          <a:blip r:embed="rId3"/>
          <a:stretch>
            <a:fillRect/>
          </a:stretch>
        </p:blipFill>
        <p:spPr>
          <a:xfrm>
            <a:off x="812800" y="1873459"/>
            <a:ext cx="6555410" cy="3890866"/>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7FA"/>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200" dirty="0">
                <a:solidFill>
                  <a:srgbClr val="2860CF"/>
                </a:solidFill>
                <a:latin typeface="Arial" pitchFamily="34" charset="0"/>
                <a:ea typeface="Arial" pitchFamily="34" charset="-122"/>
                <a:cs typeface="Arial" pitchFamily="34" charset="-120"/>
              </a:rPr>
              <a:t>CONCLUSION</a:t>
            </a:r>
            <a:endParaRPr lang="en-US" sz="1200" dirty="0"/>
          </a:p>
        </p:txBody>
      </p:sp>
      <p:sp>
        <p:nvSpPr>
          <p:cNvPr id="3" name="Text 1"/>
          <p:cNvSpPr>
            <a:spLocks noGrp="1"/>
          </p:cNvSpPr>
          <p:nvPr>
            <p:ph type="title"/>
          </p:nvPr>
        </p:nvSpPr>
        <p:spPr>
          <a:xfrm>
            <a:off x="812800" y="1229364"/>
            <a:ext cx="10883392" cy="492760"/>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0F1B33"/>
                </a:solidFill>
                <a:latin typeface="Arial" pitchFamily="34" charset="0"/>
                <a:ea typeface="Arial" pitchFamily="34" charset="-122"/>
                <a:cs typeface="Arial" pitchFamily="34" charset="-120"/>
              </a:rPr>
              <a:t>What the data shows</a:t>
            </a:r>
            <a:endParaRPr lang="en-US" sz="3200" dirty="0"/>
          </a:p>
        </p:txBody>
      </p:sp>
      <p:sp>
        <p:nvSpPr>
          <p:cNvPr id="4" name="Shape 2"/>
          <p:cNvSpPr/>
          <p:nvPr/>
        </p:nvSpPr>
        <p:spPr>
          <a:xfrm>
            <a:off x="815975" y="1903096"/>
            <a:ext cx="5200650" cy="1306830"/>
          </a:xfrm>
          <a:prstGeom prst="roundRect">
            <a:avLst>
              <a:gd name="adj" fmla="val 9475"/>
            </a:avLst>
          </a:prstGeom>
          <a:solidFill>
            <a:srgbClr val="FCFCFD"/>
          </a:solidFill>
          <a:ln w="6350">
            <a:solidFill>
              <a:srgbClr val="DDE1EA"/>
            </a:solidFill>
            <a:prstDash val="solid"/>
          </a:ln>
        </p:spPr>
        <p:txBody>
          <a:bodyPr/>
          <a:lstStyle/>
          <a:p>
            <a:endParaRPr lang="en-US"/>
          </a:p>
        </p:txBody>
      </p:sp>
      <p:sp>
        <p:nvSpPr>
          <p:cNvPr id="5" name="Text 3"/>
          <p:cNvSpPr/>
          <p:nvPr/>
        </p:nvSpPr>
        <p:spPr>
          <a:xfrm>
            <a:off x="1021080" y="2082800"/>
            <a:ext cx="4934153"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F1B33"/>
                </a:solidFill>
                <a:latin typeface="Arial" pitchFamily="34" charset="0"/>
                <a:ea typeface="Arial" pitchFamily="34" charset="-122"/>
                <a:cs typeface="Arial" pitchFamily="34" charset="-120"/>
              </a:rPr>
              <a:t>Reach follows ad delivery</a:t>
            </a:r>
            <a:endParaRPr lang="en-US" sz="1600" dirty="0"/>
          </a:p>
        </p:txBody>
      </p:sp>
      <p:sp>
        <p:nvSpPr>
          <p:cNvPr id="6" name="Text 4"/>
          <p:cNvSpPr/>
          <p:nvPr/>
        </p:nvSpPr>
        <p:spPr>
          <a:xfrm>
            <a:off x="1021080" y="2390142"/>
            <a:ext cx="4934153" cy="66548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6506A"/>
                </a:solidFill>
                <a:latin typeface="Arial" pitchFamily="34" charset="0"/>
                <a:ea typeface="Arial" pitchFamily="34" charset="-122"/>
                <a:cs typeface="Arial" pitchFamily="34" charset="-120"/>
              </a:rPr>
              <a:t>Daily Facebook reach tracks paid reach (r = 0.99) and ad spend (r = 0.84). On 14–21 March spend ran at about £2 a day and Facebook reach fell to about 1.8K a day, against about 9.0K in February.</a:t>
            </a:r>
            <a:endParaRPr lang="en-US" sz="1200" dirty="0"/>
          </a:p>
        </p:txBody>
      </p:sp>
      <p:sp>
        <p:nvSpPr>
          <p:cNvPr id="7" name="Shape 5"/>
          <p:cNvSpPr/>
          <p:nvPr/>
        </p:nvSpPr>
        <p:spPr>
          <a:xfrm>
            <a:off x="6175375" y="1903096"/>
            <a:ext cx="5200650" cy="1306830"/>
          </a:xfrm>
          <a:prstGeom prst="roundRect">
            <a:avLst>
              <a:gd name="adj" fmla="val 9475"/>
            </a:avLst>
          </a:prstGeom>
          <a:solidFill>
            <a:srgbClr val="FCFCFD"/>
          </a:solidFill>
          <a:ln w="6350">
            <a:solidFill>
              <a:srgbClr val="DDE1EA"/>
            </a:solidFill>
            <a:prstDash val="solid"/>
          </a:ln>
        </p:spPr>
        <p:txBody>
          <a:bodyPr/>
          <a:lstStyle/>
          <a:p>
            <a:endParaRPr lang="en-US"/>
          </a:p>
        </p:txBody>
      </p:sp>
      <p:sp>
        <p:nvSpPr>
          <p:cNvPr id="8" name="Text 6"/>
          <p:cNvSpPr/>
          <p:nvPr/>
        </p:nvSpPr>
        <p:spPr>
          <a:xfrm>
            <a:off x="6380480" y="2082800"/>
            <a:ext cx="4934153"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F1B33"/>
                </a:solidFill>
                <a:latin typeface="Arial" pitchFamily="34" charset="0"/>
                <a:ea typeface="Arial" pitchFamily="34" charset="-122"/>
                <a:cs typeface="Arial" pitchFamily="34" charset="-120"/>
              </a:rPr>
              <a:t>Facebook is more spend-sensitive</a:t>
            </a:r>
            <a:endParaRPr lang="en-US" sz="1600" dirty="0"/>
          </a:p>
        </p:txBody>
      </p:sp>
      <p:sp>
        <p:nvSpPr>
          <p:cNvPr id="9" name="Text 7"/>
          <p:cNvSpPr/>
          <p:nvPr/>
        </p:nvSpPr>
        <p:spPr>
          <a:xfrm>
            <a:off x="6380480" y="2390142"/>
            <a:ext cx="4934153" cy="66548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6506A"/>
                </a:solidFill>
                <a:latin typeface="Arial" pitchFamily="34" charset="0"/>
                <a:ea typeface="Arial" pitchFamily="34" charset="-122"/>
                <a:cs typeface="Arial" pitchFamily="34" charset="-120"/>
              </a:rPr>
              <a:t>Daily spend relates more closely to Facebook reach (r = 0.84) than to Instagram reach (r = 0.47). Facebook Page reach includes paid reach, so the two cannot be separated here.</a:t>
            </a:r>
            <a:endParaRPr lang="en-US" sz="1200" dirty="0"/>
          </a:p>
        </p:txBody>
      </p:sp>
      <p:sp>
        <p:nvSpPr>
          <p:cNvPr id="10" name="Shape 8"/>
          <p:cNvSpPr/>
          <p:nvPr/>
        </p:nvSpPr>
        <p:spPr>
          <a:xfrm>
            <a:off x="815975" y="3368675"/>
            <a:ext cx="5200650" cy="1306830"/>
          </a:xfrm>
          <a:prstGeom prst="roundRect">
            <a:avLst>
              <a:gd name="adj" fmla="val 9475"/>
            </a:avLst>
          </a:prstGeom>
          <a:solidFill>
            <a:srgbClr val="FCFCFD"/>
          </a:solidFill>
          <a:ln w="6350">
            <a:solidFill>
              <a:srgbClr val="DDE1EA"/>
            </a:solidFill>
            <a:prstDash val="solid"/>
          </a:ln>
        </p:spPr>
        <p:txBody>
          <a:bodyPr/>
          <a:lstStyle/>
          <a:p>
            <a:endParaRPr lang="en-US"/>
          </a:p>
        </p:txBody>
      </p:sp>
      <p:sp>
        <p:nvSpPr>
          <p:cNvPr id="11" name="Text 9"/>
          <p:cNvSpPr/>
          <p:nvPr/>
        </p:nvSpPr>
        <p:spPr>
          <a:xfrm>
            <a:off x="1021080" y="3548379"/>
            <a:ext cx="4934153"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F1B33"/>
                </a:solidFill>
                <a:latin typeface="Arial" pitchFamily="34" charset="0"/>
                <a:ea typeface="Arial" pitchFamily="34" charset="-122"/>
                <a:cs typeface="Arial" pitchFamily="34" charset="-120"/>
              </a:rPr>
              <a:t>Audience growth does not track spend</a:t>
            </a:r>
            <a:endParaRPr lang="en-US" sz="1600" dirty="0"/>
          </a:p>
        </p:txBody>
      </p:sp>
      <p:sp>
        <p:nvSpPr>
          <p:cNvPr id="12" name="Text 10"/>
          <p:cNvSpPr/>
          <p:nvPr/>
        </p:nvSpPr>
        <p:spPr>
          <a:xfrm>
            <a:off x="1021080" y="3855721"/>
            <a:ext cx="4934153" cy="66548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6506A"/>
                </a:solidFill>
                <a:latin typeface="Arial" pitchFamily="34" charset="0"/>
                <a:ea typeface="Arial" pitchFamily="34" charset="-122"/>
                <a:cs typeface="Arial" pitchFamily="34" charset="-120"/>
              </a:rPr>
              <a:t>February spend rose 36.61% while Facebook likes fell 21.08% and Instagram followers fell 15.07%. April rebounded from a low March: Facebook reach is +11.2% on February, Instagram −14.9%.</a:t>
            </a:r>
            <a:endParaRPr lang="en-US" sz="1200" dirty="0"/>
          </a:p>
        </p:txBody>
      </p:sp>
      <p:sp>
        <p:nvSpPr>
          <p:cNvPr id="13" name="Shape 11"/>
          <p:cNvSpPr/>
          <p:nvPr/>
        </p:nvSpPr>
        <p:spPr>
          <a:xfrm>
            <a:off x="6175375" y="3368675"/>
            <a:ext cx="5200650" cy="1306830"/>
          </a:xfrm>
          <a:prstGeom prst="roundRect">
            <a:avLst>
              <a:gd name="adj" fmla="val 9475"/>
            </a:avLst>
          </a:prstGeom>
          <a:solidFill>
            <a:srgbClr val="FCFCFD"/>
          </a:solidFill>
          <a:ln w="6350">
            <a:solidFill>
              <a:srgbClr val="DDE1EA"/>
            </a:solidFill>
            <a:prstDash val="solid"/>
          </a:ln>
        </p:spPr>
        <p:txBody>
          <a:bodyPr/>
          <a:lstStyle/>
          <a:p>
            <a:endParaRPr lang="en-US"/>
          </a:p>
        </p:txBody>
      </p:sp>
      <p:sp>
        <p:nvSpPr>
          <p:cNvPr id="14" name="Text 12"/>
          <p:cNvSpPr/>
          <p:nvPr/>
        </p:nvSpPr>
        <p:spPr>
          <a:xfrm>
            <a:off x="6380480" y="3548379"/>
            <a:ext cx="4934153"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F1B33"/>
                </a:solidFill>
                <a:latin typeface="Arial" pitchFamily="34" charset="0"/>
                <a:ea typeface="Arial" pitchFamily="34" charset="-122"/>
                <a:cs typeface="Arial" pitchFamily="34" charset="-120"/>
              </a:rPr>
              <a:t>Instagram held up better</a:t>
            </a:r>
            <a:endParaRPr lang="en-US" sz="1600" dirty="0"/>
          </a:p>
        </p:txBody>
      </p:sp>
      <p:sp>
        <p:nvSpPr>
          <p:cNvPr id="15" name="Text 13"/>
          <p:cNvSpPr/>
          <p:nvPr/>
        </p:nvSpPr>
        <p:spPr>
          <a:xfrm>
            <a:off x="6380480" y="3855721"/>
            <a:ext cx="4934153" cy="66548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6506A"/>
                </a:solidFill>
                <a:latin typeface="Arial" pitchFamily="34" charset="0"/>
                <a:ea typeface="Arial" pitchFamily="34" charset="-122"/>
                <a:cs typeface="Arial" pitchFamily="34" charset="-120"/>
              </a:rPr>
              <a:t>From January to March Instagram followers fell 34.6% against 65.8% for Facebook likes. Instagram led in March (621 vs 417) and April (812 vs 491).</a:t>
            </a:r>
            <a:endParaRPr lang="en-US" sz="1200" dirty="0"/>
          </a:p>
        </p:txBody>
      </p:sp>
      <p:sp>
        <p:nvSpPr>
          <p:cNvPr id="16" name="Text 14"/>
          <p:cNvSpPr/>
          <p:nvPr/>
        </p:nvSpPr>
        <p:spPr>
          <a:xfrm>
            <a:off x="812800" y="4881879"/>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46B5E"/>
                </a:solidFill>
                <a:latin typeface="Arial" pitchFamily="34" charset="0"/>
                <a:ea typeface="Arial" pitchFamily="34" charset="-122"/>
                <a:cs typeface="Arial" pitchFamily="34" charset="-120"/>
              </a:rPr>
              <a:t>Four monthly data points show association, not proof of cause. The March cause is not yet confirmed.</a:t>
            </a:r>
            <a:endParaRPr lang="en-US" sz="1200" dirty="0"/>
          </a:p>
        </p:txBody>
      </p:sp>
      <p:sp>
        <p:nvSpPr>
          <p:cNvPr id="17" name="Text 15"/>
          <p:cNvSpPr/>
          <p:nvPr/>
        </p:nvSpPr>
        <p:spPr>
          <a:xfrm>
            <a:off x="812800" y="6238242"/>
            <a:ext cx="588645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47A"/>
                </a:solidFill>
                <a:latin typeface="Arial" pitchFamily="34" charset="0"/>
                <a:ea typeface="Arial" pitchFamily="34" charset="-122"/>
                <a:cs typeface="Arial" pitchFamily="34" charset="-120"/>
              </a:rPr>
              <a:t>Meta channels performance</a:t>
            </a:r>
          </a:p>
          <a:p>
            <a:pPr marL="0" indent="0" algn="l">
              <a:lnSpc>
                <a:spcPts val="1680"/>
              </a:lnSpc>
              <a:buNone/>
            </a:pPr>
            <a:endParaRPr lang="en-US" sz="1200" dirty="0"/>
          </a:p>
        </p:txBody>
      </p:sp>
      <p:sp>
        <p:nvSpPr>
          <p:cNvPr id="18" name="Text 16"/>
          <p:cNvSpPr/>
          <p:nvPr/>
        </p:nvSpPr>
        <p:spPr>
          <a:xfrm>
            <a:off x="8108950" y="6238242"/>
            <a:ext cx="327025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B647A"/>
                </a:solidFill>
                <a:latin typeface="Arial" pitchFamily="34" charset="0"/>
                <a:ea typeface="Arial" pitchFamily="34" charset="-122"/>
                <a:cs typeface="Arial" pitchFamily="34" charset="-120"/>
              </a:rPr>
              <a:t>10</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6F7FA"/>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200" dirty="0">
                <a:solidFill>
                  <a:srgbClr val="2860CF"/>
                </a:solidFill>
                <a:latin typeface="Arial" pitchFamily="34" charset="0"/>
                <a:ea typeface="Arial" pitchFamily="34" charset="-122"/>
                <a:cs typeface="Arial" pitchFamily="34" charset="-120"/>
              </a:rPr>
              <a:t>RECOMMENDATIONS 1 OF 2</a:t>
            </a:r>
            <a:endParaRPr lang="en-US" sz="1200" dirty="0"/>
          </a:p>
        </p:txBody>
      </p:sp>
      <p:sp>
        <p:nvSpPr>
          <p:cNvPr id="3" name="Text 1"/>
          <p:cNvSpPr>
            <a:spLocks noGrp="1"/>
          </p:cNvSpPr>
          <p:nvPr>
            <p:ph type="title"/>
          </p:nvPr>
        </p:nvSpPr>
        <p:spPr>
          <a:xfrm>
            <a:off x="812800" y="1229364"/>
            <a:ext cx="10883392" cy="492760"/>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0F1B33"/>
                </a:solidFill>
                <a:latin typeface="Arial" pitchFamily="34" charset="0"/>
                <a:ea typeface="Arial" pitchFamily="34" charset="-122"/>
                <a:cs typeface="Arial" pitchFamily="34" charset="-120"/>
              </a:rPr>
              <a:t>Protect delivery and scale in steps</a:t>
            </a:r>
            <a:endParaRPr lang="en-US" sz="3200" dirty="0"/>
          </a:p>
        </p:txBody>
      </p:sp>
      <p:sp>
        <p:nvSpPr>
          <p:cNvPr id="4" name="Shape 2"/>
          <p:cNvSpPr/>
          <p:nvPr/>
        </p:nvSpPr>
        <p:spPr>
          <a:xfrm>
            <a:off x="815975" y="1903096"/>
            <a:ext cx="10560050" cy="999490"/>
          </a:xfrm>
          <a:prstGeom prst="roundRect">
            <a:avLst>
              <a:gd name="adj" fmla="val 12389"/>
            </a:avLst>
          </a:prstGeom>
          <a:solidFill>
            <a:srgbClr val="FCFCFD"/>
          </a:solidFill>
          <a:ln w="6350">
            <a:solidFill>
              <a:srgbClr val="DDE1EA"/>
            </a:solidFill>
            <a:prstDash val="solid"/>
          </a:ln>
        </p:spPr>
        <p:txBody>
          <a:bodyPr/>
          <a:lstStyle/>
          <a:p>
            <a:endParaRPr lang="en-US"/>
          </a:p>
        </p:txBody>
      </p:sp>
      <p:sp>
        <p:nvSpPr>
          <p:cNvPr id="5" name="Text 3"/>
          <p:cNvSpPr/>
          <p:nvPr/>
        </p:nvSpPr>
        <p:spPr>
          <a:xfrm>
            <a:off x="1021080" y="2082800"/>
            <a:ext cx="457200" cy="457200"/>
          </a:xfrm>
          <a:custGeom>
            <a:avLst/>
            <a:gdLst/>
            <a:ahLst/>
            <a:cxnLst/>
            <a:rect l="l" t="t" r="r" b="b"/>
            <a:pathLst>
              <a:path w="457200" h="457200">
                <a:moveTo>
                  <a:pt x="228600" y="0"/>
                </a:moveTo>
                <a:lnTo>
                  <a:pt x="228600" y="0"/>
                </a:lnTo>
                <a:arcTo wR="228600" hR="228600" stAng="16200000" swAng="5400000"/>
                <a:lnTo>
                  <a:pt x="457200" y="228600"/>
                </a:lnTo>
                <a:arcTo wR="228600" hR="228600" stAng="0" swAng="5400000"/>
                <a:lnTo>
                  <a:pt x="228600" y="457200"/>
                </a:lnTo>
                <a:arcTo wR="228600" hR="228600" stAng="5400000" swAng="5400000"/>
                <a:lnTo>
                  <a:pt x="0" y="228600"/>
                </a:lnTo>
                <a:arcTo wR="228600" hR="228600" stAng="10800000" swAng="5400000"/>
                <a:close/>
              </a:path>
            </a:pathLst>
          </a:custGeom>
          <a:solidFill>
            <a:srgbClr val="2860CF"/>
          </a:solidFill>
          <a:ln/>
        </p:spPr>
        <p:txBody>
          <a:bodyPr wrap="square" lIns="0" tIns="0" rIns="0" bIns="0" rtlCol="0" anchor="t">
            <a:normAutofit/>
          </a:bodyPr>
          <a:lstStyle/>
          <a:p>
            <a:pPr marL="0" indent="0" algn="ctr">
              <a:lnSpc>
                <a:spcPts val="3600"/>
              </a:lnSpc>
              <a:buNone/>
            </a:pPr>
            <a:r>
              <a:rPr lang="en-US" sz="2000" b="1" dirty="0">
                <a:solidFill>
                  <a:srgbClr val="F6F7FA"/>
                </a:solidFill>
                <a:latin typeface="Arial" pitchFamily="34" charset="0"/>
                <a:ea typeface="Arial" pitchFamily="34" charset="-122"/>
                <a:cs typeface="Arial" pitchFamily="34" charset="-120"/>
              </a:rPr>
              <a:t>1</a:t>
            </a:r>
            <a:endParaRPr lang="en-US" sz="2000" dirty="0"/>
          </a:p>
        </p:txBody>
      </p:sp>
      <p:sp>
        <p:nvSpPr>
          <p:cNvPr id="6" name="Text 4"/>
          <p:cNvSpPr/>
          <p:nvPr/>
        </p:nvSpPr>
        <p:spPr>
          <a:xfrm>
            <a:off x="1681480" y="2082800"/>
            <a:ext cx="3139440" cy="5130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F1B33"/>
                </a:solidFill>
                <a:latin typeface="Arial" pitchFamily="34" charset="0"/>
                <a:ea typeface="Arial" pitchFamily="34" charset="-122"/>
                <a:cs typeface="Arial" pitchFamily="34" charset="-120"/>
              </a:rPr>
              <a:t>Set a budget floor of £1,000 a month</a:t>
            </a:r>
            <a:endParaRPr lang="en-US" sz="1600" dirty="0"/>
          </a:p>
        </p:txBody>
      </p:sp>
      <p:sp>
        <p:nvSpPr>
          <p:cNvPr id="7" name="Text 5"/>
          <p:cNvSpPr/>
          <p:nvPr/>
        </p:nvSpPr>
        <p:spPr>
          <a:xfrm>
            <a:off x="4932680" y="2082800"/>
            <a:ext cx="6425387" cy="66548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6506A"/>
                </a:solidFill>
                <a:latin typeface="Arial" pitchFamily="34" charset="0"/>
                <a:ea typeface="Arial" pitchFamily="34" charset="-122"/>
                <a:cs typeface="Arial" pitchFamily="34" charset="-120"/>
              </a:rPr>
              <a:t>That is about £33 a day. On 14–21 March spend ran at about £2 a day and Facebook reach fell about 80% below February's daily average. A floor lowers the risk of a repeat; it cannot confirm the March cause.</a:t>
            </a:r>
            <a:endParaRPr lang="en-US" sz="1200" dirty="0"/>
          </a:p>
        </p:txBody>
      </p:sp>
      <p:sp>
        <p:nvSpPr>
          <p:cNvPr id="8" name="Shape 6"/>
          <p:cNvSpPr/>
          <p:nvPr/>
        </p:nvSpPr>
        <p:spPr>
          <a:xfrm>
            <a:off x="815975" y="3035939"/>
            <a:ext cx="10560050" cy="999490"/>
          </a:xfrm>
          <a:prstGeom prst="roundRect">
            <a:avLst>
              <a:gd name="adj" fmla="val 12389"/>
            </a:avLst>
          </a:prstGeom>
          <a:solidFill>
            <a:srgbClr val="FCFCFD"/>
          </a:solidFill>
          <a:ln w="6350">
            <a:solidFill>
              <a:srgbClr val="DDE1EA"/>
            </a:solidFill>
            <a:prstDash val="solid"/>
          </a:ln>
        </p:spPr>
        <p:txBody>
          <a:bodyPr/>
          <a:lstStyle/>
          <a:p>
            <a:endParaRPr lang="en-US"/>
          </a:p>
        </p:txBody>
      </p:sp>
      <p:sp>
        <p:nvSpPr>
          <p:cNvPr id="9" name="Text 7"/>
          <p:cNvSpPr/>
          <p:nvPr/>
        </p:nvSpPr>
        <p:spPr>
          <a:xfrm>
            <a:off x="1021080" y="3215642"/>
            <a:ext cx="457200" cy="457200"/>
          </a:xfrm>
          <a:custGeom>
            <a:avLst/>
            <a:gdLst/>
            <a:ahLst/>
            <a:cxnLst/>
            <a:rect l="l" t="t" r="r" b="b"/>
            <a:pathLst>
              <a:path w="457200" h="457200">
                <a:moveTo>
                  <a:pt x="228600" y="0"/>
                </a:moveTo>
                <a:lnTo>
                  <a:pt x="228600" y="0"/>
                </a:lnTo>
                <a:arcTo wR="228600" hR="228600" stAng="16200000" swAng="5400000"/>
                <a:lnTo>
                  <a:pt x="457200" y="228600"/>
                </a:lnTo>
                <a:arcTo wR="228600" hR="228600" stAng="0" swAng="5400000"/>
                <a:lnTo>
                  <a:pt x="228600" y="457200"/>
                </a:lnTo>
                <a:arcTo wR="228600" hR="228600" stAng="5400000" swAng="5400000"/>
                <a:lnTo>
                  <a:pt x="0" y="228600"/>
                </a:lnTo>
                <a:arcTo wR="228600" hR="228600" stAng="10800000" swAng="5400000"/>
                <a:close/>
              </a:path>
            </a:pathLst>
          </a:custGeom>
          <a:solidFill>
            <a:srgbClr val="2860CF"/>
          </a:solidFill>
          <a:ln/>
        </p:spPr>
        <p:txBody>
          <a:bodyPr wrap="square" lIns="0" tIns="0" rIns="0" bIns="0" rtlCol="0" anchor="t">
            <a:normAutofit/>
          </a:bodyPr>
          <a:lstStyle/>
          <a:p>
            <a:pPr marL="0" indent="0" algn="ctr">
              <a:lnSpc>
                <a:spcPts val="3600"/>
              </a:lnSpc>
              <a:buNone/>
            </a:pPr>
            <a:r>
              <a:rPr lang="en-US" sz="2000" b="1" dirty="0">
                <a:solidFill>
                  <a:srgbClr val="F6F7FA"/>
                </a:solidFill>
                <a:latin typeface="Arial" pitchFamily="34" charset="0"/>
                <a:ea typeface="Arial" pitchFamily="34" charset="-122"/>
                <a:cs typeface="Arial" pitchFamily="34" charset="-120"/>
              </a:rPr>
              <a:t>2</a:t>
            </a:r>
            <a:endParaRPr lang="en-US" sz="2000" dirty="0"/>
          </a:p>
        </p:txBody>
      </p:sp>
      <p:sp>
        <p:nvSpPr>
          <p:cNvPr id="10" name="Text 8"/>
          <p:cNvSpPr/>
          <p:nvPr/>
        </p:nvSpPr>
        <p:spPr>
          <a:xfrm>
            <a:off x="1681480" y="3215642"/>
            <a:ext cx="3139440" cy="5130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F1B33"/>
                </a:solidFill>
                <a:latin typeface="Arial" pitchFamily="34" charset="0"/>
                <a:ea typeface="Arial" pitchFamily="34" charset="-122"/>
                <a:cs typeface="Arial" pitchFamily="34" charset="-120"/>
              </a:rPr>
              <a:t>Cap monthly budget changes at about ±20%</a:t>
            </a:r>
            <a:endParaRPr lang="en-US" sz="1600" dirty="0"/>
          </a:p>
        </p:txBody>
      </p:sp>
      <p:sp>
        <p:nvSpPr>
          <p:cNvPr id="11" name="Text 9"/>
          <p:cNvSpPr/>
          <p:nvPr/>
        </p:nvSpPr>
        <p:spPr>
          <a:xfrm>
            <a:off x="4932680" y="3215642"/>
            <a:ext cx="6425387" cy="66548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6506A"/>
                </a:solidFill>
                <a:latin typeface="Arial" pitchFamily="34" charset="0"/>
                <a:ea typeface="Arial" pitchFamily="34" charset="-122"/>
                <a:cs typeface="Arial" pitchFamily="34" charset="-120"/>
              </a:rPr>
              <a:t>Swings this period were +36.61%, −53.53% and +198.74%. Facebook reach per £ fell from 208 in January to 145 in April as spend rose. The ±20% cap is a common guideline to test, not a result from this data.</a:t>
            </a:r>
            <a:endParaRPr lang="en-US" sz="1200" dirty="0"/>
          </a:p>
        </p:txBody>
      </p:sp>
      <p:sp>
        <p:nvSpPr>
          <p:cNvPr id="12" name="Shape 10"/>
          <p:cNvSpPr/>
          <p:nvPr/>
        </p:nvSpPr>
        <p:spPr>
          <a:xfrm>
            <a:off x="815975" y="4168775"/>
            <a:ext cx="10560050" cy="999490"/>
          </a:xfrm>
          <a:prstGeom prst="roundRect">
            <a:avLst>
              <a:gd name="adj" fmla="val 12389"/>
            </a:avLst>
          </a:prstGeom>
          <a:solidFill>
            <a:srgbClr val="FCFCFD"/>
          </a:solidFill>
          <a:ln w="6350">
            <a:solidFill>
              <a:srgbClr val="DDE1EA"/>
            </a:solidFill>
            <a:prstDash val="solid"/>
          </a:ln>
        </p:spPr>
        <p:txBody>
          <a:bodyPr/>
          <a:lstStyle/>
          <a:p>
            <a:endParaRPr lang="en-US"/>
          </a:p>
        </p:txBody>
      </p:sp>
      <p:sp>
        <p:nvSpPr>
          <p:cNvPr id="13" name="Text 11"/>
          <p:cNvSpPr/>
          <p:nvPr/>
        </p:nvSpPr>
        <p:spPr>
          <a:xfrm>
            <a:off x="1021080" y="4348479"/>
            <a:ext cx="457200" cy="457200"/>
          </a:xfrm>
          <a:custGeom>
            <a:avLst/>
            <a:gdLst/>
            <a:ahLst/>
            <a:cxnLst/>
            <a:rect l="l" t="t" r="r" b="b"/>
            <a:pathLst>
              <a:path w="457200" h="457200">
                <a:moveTo>
                  <a:pt x="228600" y="0"/>
                </a:moveTo>
                <a:lnTo>
                  <a:pt x="228600" y="0"/>
                </a:lnTo>
                <a:arcTo wR="228600" hR="228600" stAng="16200000" swAng="5400000"/>
                <a:lnTo>
                  <a:pt x="457200" y="228600"/>
                </a:lnTo>
                <a:arcTo wR="228600" hR="228600" stAng="0" swAng="5400000"/>
                <a:lnTo>
                  <a:pt x="228600" y="457200"/>
                </a:lnTo>
                <a:arcTo wR="228600" hR="228600" stAng="5400000" swAng="5400000"/>
                <a:lnTo>
                  <a:pt x="0" y="228600"/>
                </a:lnTo>
                <a:arcTo wR="228600" hR="228600" stAng="10800000" swAng="5400000"/>
                <a:close/>
              </a:path>
            </a:pathLst>
          </a:custGeom>
          <a:solidFill>
            <a:srgbClr val="2860CF"/>
          </a:solidFill>
          <a:ln/>
        </p:spPr>
        <p:txBody>
          <a:bodyPr wrap="square" lIns="0" tIns="0" rIns="0" bIns="0" rtlCol="0" anchor="t">
            <a:normAutofit/>
          </a:bodyPr>
          <a:lstStyle/>
          <a:p>
            <a:pPr marL="0" indent="0" algn="ctr">
              <a:lnSpc>
                <a:spcPts val="3600"/>
              </a:lnSpc>
              <a:buNone/>
            </a:pPr>
            <a:r>
              <a:rPr lang="en-US" sz="2000" b="1" dirty="0">
                <a:solidFill>
                  <a:srgbClr val="F6F7FA"/>
                </a:solidFill>
                <a:latin typeface="Arial" pitchFamily="34" charset="0"/>
                <a:ea typeface="Arial" pitchFamily="34" charset="-122"/>
                <a:cs typeface="Arial" pitchFamily="34" charset="-120"/>
              </a:rPr>
              <a:t>3</a:t>
            </a:r>
            <a:endParaRPr lang="en-US" sz="2000" dirty="0"/>
          </a:p>
        </p:txBody>
      </p:sp>
      <p:sp>
        <p:nvSpPr>
          <p:cNvPr id="14" name="Text 12"/>
          <p:cNvSpPr/>
          <p:nvPr/>
        </p:nvSpPr>
        <p:spPr>
          <a:xfrm>
            <a:off x="1681480" y="4348479"/>
            <a:ext cx="3139440" cy="5130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F1B33"/>
                </a:solidFill>
                <a:latin typeface="Arial" pitchFamily="34" charset="0"/>
                <a:ea typeface="Arial" pitchFamily="34" charset="-122"/>
                <a:cs typeface="Arial" pitchFamily="34" charset="-120"/>
              </a:rPr>
              <a:t>Use Facebook for visibility pushes, scaled in steps</a:t>
            </a:r>
            <a:endParaRPr lang="en-US" sz="1600" dirty="0"/>
          </a:p>
        </p:txBody>
      </p:sp>
      <p:sp>
        <p:nvSpPr>
          <p:cNvPr id="15" name="Text 13"/>
          <p:cNvSpPr/>
          <p:nvPr/>
        </p:nvSpPr>
        <p:spPr>
          <a:xfrm>
            <a:off x="4932680" y="4348479"/>
            <a:ext cx="6425387" cy="66548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6506A"/>
                </a:solidFill>
                <a:latin typeface="Arial" pitchFamily="34" charset="0"/>
                <a:ea typeface="Arial" pitchFamily="34" charset="-122"/>
                <a:cs typeface="Arial" pitchFamily="34" charset="-120"/>
              </a:rPr>
              <a:t>Facebook reach follows spend more closely than Instagram (daily r = 0.84 vs 0.47). April's +140.10% is mostly a rebound: reach is only +11.2% above February on 38.8% more spend. Track reach per £ at each step.</a:t>
            </a:r>
            <a:endParaRPr lang="en-US" sz="1200" dirty="0"/>
          </a:p>
        </p:txBody>
      </p:sp>
      <p:sp>
        <p:nvSpPr>
          <p:cNvPr id="16" name="Text 14"/>
          <p:cNvSpPr/>
          <p:nvPr/>
        </p:nvSpPr>
        <p:spPr>
          <a:xfrm>
            <a:off x="812800" y="6238242"/>
            <a:ext cx="588645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47A"/>
                </a:solidFill>
                <a:latin typeface="Arial" pitchFamily="34" charset="0"/>
                <a:ea typeface="Arial" pitchFamily="34" charset="-122"/>
                <a:cs typeface="Arial" pitchFamily="34" charset="-120"/>
              </a:rPr>
              <a:t>Meta channels performance</a:t>
            </a:r>
          </a:p>
          <a:p>
            <a:pPr marL="0" indent="0" algn="l">
              <a:lnSpc>
                <a:spcPts val="1680"/>
              </a:lnSpc>
              <a:buNone/>
            </a:pPr>
            <a:endParaRPr lang="en-US" sz="1200" dirty="0"/>
          </a:p>
        </p:txBody>
      </p:sp>
      <p:sp>
        <p:nvSpPr>
          <p:cNvPr id="17" name="Text 15"/>
          <p:cNvSpPr/>
          <p:nvPr/>
        </p:nvSpPr>
        <p:spPr>
          <a:xfrm>
            <a:off x="8108950" y="6238242"/>
            <a:ext cx="327025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B647A"/>
                </a:solidFill>
                <a:latin typeface="Arial" pitchFamily="34" charset="0"/>
                <a:ea typeface="Arial" pitchFamily="34" charset="-122"/>
                <a:cs typeface="Arial" pitchFamily="34" charset="-120"/>
              </a:rPr>
              <a:t>11</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6F7FA"/>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200" dirty="0">
                <a:solidFill>
                  <a:srgbClr val="2860CF"/>
                </a:solidFill>
                <a:latin typeface="Arial" pitchFamily="34" charset="0"/>
                <a:ea typeface="Arial" pitchFamily="34" charset="-122"/>
                <a:cs typeface="Arial" pitchFamily="34" charset="-120"/>
              </a:rPr>
              <a:t>RECOMMENDATIONS 2 OF 2</a:t>
            </a:r>
            <a:endParaRPr lang="en-US" sz="1200" dirty="0"/>
          </a:p>
        </p:txBody>
      </p:sp>
      <p:sp>
        <p:nvSpPr>
          <p:cNvPr id="3" name="Text 1"/>
          <p:cNvSpPr>
            <a:spLocks noGrp="1"/>
          </p:cNvSpPr>
          <p:nvPr>
            <p:ph type="title"/>
          </p:nvPr>
        </p:nvSpPr>
        <p:spPr>
          <a:xfrm>
            <a:off x="812800" y="1229364"/>
            <a:ext cx="10883392" cy="492760"/>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0F1B33"/>
                </a:solidFill>
                <a:latin typeface="Arial" pitchFamily="34" charset="0"/>
                <a:ea typeface="Arial" pitchFamily="34" charset="-122"/>
                <a:cs typeface="Arial" pitchFamily="34" charset="-120"/>
              </a:rPr>
              <a:t>Build the audience and test what works</a:t>
            </a:r>
            <a:endParaRPr lang="en-US" sz="3200" dirty="0"/>
          </a:p>
        </p:txBody>
      </p:sp>
      <p:sp>
        <p:nvSpPr>
          <p:cNvPr id="4" name="Shape 2"/>
          <p:cNvSpPr/>
          <p:nvPr/>
        </p:nvSpPr>
        <p:spPr>
          <a:xfrm>
            <a:off x="815975" y="1903096"/>
            <a:ext cx="10560050" cy="999490"/>
          </a:xfrm>
          <a:prstGeom prst="roundRect">
            <a:avLst>
              <a:gd name="adj" fmla="val 12389"/>
            </a:avLst>
          </a:prstGeom>
          <a:solidFill>
            <a:srgbClr val="FCFCFD"/>
          </a:solidFill>
          <a:ln w="6350">
            <a:solidFill>
              <a:srgbClr val="DDE1EA"/>
            </a:solidFill>
            <a:prstDash val="solid"/>
          </a:ln>
        </p:spPr>
        <p:txBody>
          <a:bodyPr/>
          <a:lstStyle/>
          <a:p>
            <a:endParaRPr lang="en-US"/>
          </a:p>
        </p:txBody>
      </p:sp>
      <p:sp>
        <p:nvSpPr>
          <p:cNvPr id="5" name="Text 3"/>
          <p:cNvSpPr/>
          <p:nvPr/>
        </p:nvSpPr>
        <p:spPr>
          <a:xfrm>
            <a:off x="1021080" y="2082800"/>
            <a:ext cx="457200" cy="457200"/>
          </a:xfrm>
          <a:custGeom>
            <a:avLst/>
            <a:gdLst/>
            <a:ahLst/>
            <a:cxnLst/>
            <a:rect l="l" t="t" r="r" b="b"/>
            <a:pathLst>
              <a:path w="457200" h="457200">
                <a:moveTo>
                  <a:pt x="228600" y="0"/>
                </a:moveTo>
                <a:lnTo>
                  <a:pt x="228600" y="0"/>
                </a:lnTo>
                <a:arcTo wR="228600" hR="228600" stAng="16200000" swAng="5400000"/>
                <a:lnTo>
                  <a:pt x="457200" y="228600"/>
                </a:lnTo>
                <a:arcTo wR="228600" hR="228600" stAng="0" swAng="5400000"/>
                <a:lnTo>
                  <a:pt x="228600" y="457200"/>
                </a:lnTo>
                <a:arcTo wR="228600" hR="228600" stAng="5400000" swAng="5400000"/>
                <a:lnTo>
                  <a:pt x="0" y="228600"/>
                </a:lnTo>
                <a:arcTo wR="228600" hR="228600" stAng="10800000" swAng="5400000"/>
                <a:close/>
              </a:path>
            </a:pathLst>
          </a:custGeom>
          <a:solidFill>
            <a:srgbClr val="E8833A"/>
          </a:solidFill>
          <a:ln/>
        </p:spPr>
        <p:txBody>
          <a:bodyPr wrap="square" lIns="0" tIns="0" rIns="0" bIns="0" rtlCol="0" anchor="t">
            <a:normAutofit/>
          </a:bodyPr>
          <a:lstStyle/>
          <a:p>
            <a:pPr marL="0" indent="0" algn="ctr">
              <a:lnSpc>
                <a:spcPts val="3600"/>
              </a:lnSpc>
              <a:buNone/>
            </a:pPr>
            <a:r>
              <a:rPr lang="en-US" sz="2000" b="1" dirty="0">
                <a:solidFill>
                  <a:srgbClr val="0F1B33"/>
                </a:solidFill>
                <a:latin typeface="Arial" pitchFamily="34" charset="0"/>
                <a:ea typeface="Arial" pitchFamily="34" charset="-122"/>
                <a:cs typeface="Arial" pitchFamily="34" charset="-120"/>
              </a:rPr>
              <a:t>4</a:t>
            </a:r>
            <a:endParaRPr lang="en-US" sz="2000" dirty="0"/>
          </a:p>
        </p:txBody>
      </p:sp>
      <p:sp>
        <p:nvSpPr>
          <p:cNvPr id="6" name="Text 4"/>
          <p:cNvSpPr/>
          <p:nvPr/>
        </p:nvSpPr>
        <p:spPr>
          <a:xfrm>
            <a:off x="1681480" y="2082800"/>
            <a:ext cx="3139440" cy="5130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F1B33"/>
                </a:solidFill>
                <a:latin typeface="Arial" pitchFamily="34" charset="0"/>
                <a:ea typeface="Arial" pitchFamily="34" charset="-122"/>
                <a:cs typeface="Arial" pitchFamily="34" charset="-120"/>
              </a:rPr>
              <a:t>Anchor organic community on Instagram</a:t>
            </a:r>
            <a:endParaRPr lang="en-US" sz="1600" dirty="0"/>
          </a:p>
        </p:txBody>
      </p:sp>
      <p:sp>
        <p:nvSpPr>
          <p:cNvPr id="7" name="Text 5"/>
          <p:cNvSpPr/>
          <p:nvPr/>
        </p:nvSpPr>
        <p:spPr>
          <a:xfrm>
            <a:off x="4932680" y="2082800"/>
            <a:ext cx="6425387" cy="66548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6506A"/>
                </a:solidFill>
                <a:latin typeface="Arial" pitchFamily="34" charset="0"/>
                <a:ea typeface="Arial" pitchFamily="34" charset="-122"/>
                <a:cs typeface="Arial" pitchFamily="34" charset="-120"/>
              </a:rPr>
              <a:t>January to March, Instagram followers fell 34.6% against 65.8% for Facebook likes, and Instagram led in March and April. This is relative resilience: followers still fell while spend was cut.</a:t>
            </a:r>
            <a:endParaRPr lang="en-US" sz="1200" dirty="0"/>
          </a:p>
        </p:txBody>
      </p:sp>
      <p:sp>
        <p:nvSpPr>
          <p:cNvPr id="8" name="Shape 6"/>
          <p:cNvSpPr/>
          <p:nvPr/>
        </p:nvSpPr>
        <p:spPr>
          <a:xfrm>
            <a:off x="815975" y="3035939"/>
            <a:ext cx="10560050" cy="816610"/>
          </a:xfrm>
          <a:prstGeom prst="roundRect">
            <a:avLst>
              <a:gd name="adj" fmla="val 15163"/>
            </a:avLst>
          </a:prstGeom>
          <a:solidFill>
            <a:srgbClr val="FCFCFD"/>
          </a:solidFill>
          <a:ln w="6350">
            <a:solidFill>
              <a:srgbClr val="DDE1EA"/>
            </a:solidFill>
            <a:prstDash val="solid"/>
          </a:ln>
        </p:spPr>
        <p:txBody>
          <a:bodyPr/>
          <a:lstStyle/>
          <a:p>
            <a:endParaRPr lang="en-US"/>
          </a:p>
        </p:txBody>
      </p:sp>
      <p:sp>
        <p:nvSpPr>
          <p:cNvPr id="9" name="Text 7"/>
          <p:cNvSpPr/>
          <p:nvPr/>
        </p:nvSpPr>
        <p:spPr>
          <a:xfrm>
            <a:off x="1021080" y="3215642"/>
            <a:ext cx="457200" cy="457200"/>
          </a:xfrm>
          <a:custGeom>
            <a:avLst/>
            <a:gdLst/>
            <a:ahLst/>
            <a:cxnLst/>
            <a:rect l="l" t="t" r="r" b="b"/>
            <a:pathLst>
              <a:path w="457200" h="457200">
                <a:moveTo>
                  <a:pt x="228600" y="0"/>
                </a:moveTo>
                <a:lnTo>
                  <a:pt x="228600" y="0"/>
                </a:lnTo>
                <a:arcTo wR="228600" hR="228600" stAng="16200000" swAng="5400000"/>
                <a:lnTo>
                  <a:pt x="457200" y="228600"/>
                </a:lnTo>
                <a:arcTo wR="228600" hR="228600" stAng="0" swAng="5400000"/>
                <a:lnTo>
                  <a:pt x="228600" y="457200"/>
                </a:lnTo>
                <a:arcTo wR="228600" hR="228600" stAng="5400000" swAng="5400000"/>
                <a:lnTo>
                  <a:pt x="0" y="228600"/>
                </a:lnTo>
                <a:arcTo wR="228600" hR="228600" stAng="10800000" swAng="5400000"/>
                <a:close/>
              </a:path>
            </a:pathLst>
          </a:custGeom>
          <a:solidFill>
            <a:srgbClr val="E8833A"/>
          </a:solidFill>
          <a:ln/>
        </p:spPr>
        <p:txBody>
          <a:bodyPr wrap="square" lIns="0" tIns="0" rIns="0" bIns="0" rtlCol="0" anchor="t">
            <a:normAutofit/>
          </a:bodyPr>
          <a:lstStyle/>
          <a:p>
            <a:pPr marL="0" indent="0" algn="ctr">
              <a:lnSpc>
                <a:spcPts val="3600"/>
              </a:lnSpc>
              <a:buNone/>
            </a:pPr>
            <a:r>
              <a:rPr lang="en-US" sz="2000" b="1" dirty="0">
                <a:solidFill>
                  <a:srgbClr val="0F1B33"/>
                </a:solidFill>
                <a:latin typeface="Arial" pitchFamily="34" charset="0"/>
                <a:ea typeface="Arial" pitchFamily="34" charset="-122"/>
                <a:cs typeface="Arial" pitchFamily="34" charset="-120"/>
              </a:rPr>
              <a:t>5</a:t>
            </a:r>
            <a:endParaRPr lang="en-US" sz="2000" dirty="0"/>
          </a:p>
        </p:txBody>
      </p:sp>
      <p:sp>
        <p:nvSpPr>
          <p:cNvPr id="10" name="Text 8"/>
          <p:cNvSpPr/>
          <p:nvPr/>
        </p:nvSpPr>
        <p:spPr>
          <a:xfrm>
            <a:off x="1681480" y="3215642"/>
            <a:ext cx="3251200"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F1B33"/>
                </a:solidFill>
                <a:latin typeface="Arial" pitchFamily="34" charset="0"/>
                <a:ea typeface="Arial" pitchFamily="34" charset="-122"/>
                <a:cs typeface="Arial" pitchFamily="34" charset="-120"/>
              </a:rPr>
              <a:t>Test Reels and Stories formats</a:t>
            </a:r>
            <a:endParaRPr lang="en-US" sz="1600" dirty="0"/>
          </a:p>
        </p:txBody>
      </p:sp>
      <p:sp>
        <p:nvSpPr>
          <p:cNvPr id="11" name="Text 9"/>
          <p:cNvSpPr/>
          <p:nvPr/>
        </p:nvSpPr>
        <p:spPr>
          <a:xfrm>
            <a:off x="4932680" y="3215642"/>
            <a:ext cx="6425387"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6506A"/>
                </a:solidFill>
                <a:latin typeface="Arial" pitchFamily="34" charset="0"/>
                <a:ea typeface="Arial" pitchFamily="34" charset="-122"/>
                <a:cs typeface="Arial" pitchFamily="34" charset="-120"/>
              </a:rPr>
              <a:t>A hypothesis, not a finding: our exports hold no placement or format breakdown. Run a controlled test and compare reach and follower gains per format before shifting production.</a:t>
            </a:r>
            <a:endParaRPr lang="en-US" sz="1200" dirty="0"/>
          </a:p>
        </p:txBody>
      </p:sp>
      <p:sp>
        <p:nvSpPr>
          <p:cNvPr id="12" name="Shape 10"/>
          <p:cNvSpPr/>
          <p:nvPr/>
        </p:nvSpPr>
        <p:spPr>
          <a:xfrm>
            <a:off x="815975" y="3985896"/>
            <a:ext cx="10560050" cy="999490"/>
          </a:xfrm>
          <a:prstGeom prst="roundRect">
            <a:avLst>
              <a:gd name="adj" fmla="val 12389"/>
            </a:avLst>
          </a:prstGeom>
          <a:solidFill>
            <a:srgbClr val="FCFCFD"/>
          </a:solidFill>
          <a:ln w="6350">
            <a:solidFill>
              <a:srgbClr val="DDE1EA"/>
            </a:solidFill>
            <a:prstDash val="solid"/>
          </a:ln>
        </p:spPr>
        <p:txBody>
          <a:bodyPr/>
          <a:lstStyle/>
          <a:p>
            <a:endParaRPr lang="en-US"/>
          </a:p>
        </p:txBody>
      </p:sp>
      <p:sp>
        <p:nvSpPr>
          <p:cNvPr id="13" name="Text 11"/>
          <p:cNvSpPr/>
          <p:nvPr/>
        </p:nvSpPr>
        <p:spPr>
          <a:xfrm>
            <a:off x="1021080" y="4165600"/>
            <a:ext cx="457200" cy="457200"/>
          </a:xfrm>
          <a:custGeom>
            <a:avLst/>
            <a:gdLst/>
            <a:ahLst/>
            <a:cxnLst/>
            <a:rect l="l" t="t" r="r" b="b"/>
            <a:pathLst>
              <a:path w="457200" h="457200">
                <a:moveTo>
                  <a:pt x="228600" y="0"/>
                </a:moveTo>
                <a:lnTo>
                  <a:pt x="228600" y="0"/>
                </a:lnTo>
                <a:arcTo wR="228600" hR="228600" stAng="16200000" swAng="5400000"/>
                <a:lnTo>
                  <a:pt x="457200" y="228600"/>
                </a:lnTo>
                <a:arcTo wR="228600" hR="228600" stAng="0" swAng="5400000"/>
                <a:lnTo>
                  <a:pt x="228600" y="457200"/>
                </a:lnTo>
                <a:arcTo wR="228600" hR="228600" stAng="5400000" swAng="5400000"/>
                <a:lnTo>
                  <a:pt x="0" y="228600"/>
                </a:lnTo>
                <a:arcTo wR="228600" hR="228600" stAng="10800000" swAng="5400000"/>
                <a:close/>
              </a:path>
            </a:pathLst>
          </a:custGeom>
          <a:solidFill>
            <a:srgbClr val="E8833A"/>
          </a:solidFill>
          <a:ln/>
        </p:spPr>
        <p:txBody>
          <a:bodyPr wrap="square" lIns="0" tIns="0" rIns="0" bIns="0" rtlCol="0" anchor="t">
            <a:normAutofit/>
          </a:bodyPr>
          <a:lstStyle/>
          <a:p>
            <a:pPr marL="0" indent="0" algn="ctr">
              <a:lnSpc>
                <a:spcPts val="3600"/>
              </a:lnSpc>
              <a:buNone/>
            </a:pPr>
            <a:r>
              <a:rPr lang="en-US" sz="2000" b="1" dirty="0">
                <a:solidFill>
                  <a:srgbClr val="0F1B33"/>
                </a:solidFill>
                <a:latin typeface="Arial" pitchFamily="34" charset="0"/>
                <a:ea typeface="Arial" pitchFamily="34" charset="-122"/>
                <a:cs typeface="Arial" pitchFamily="34" charset="-120"/>
              </a:rPr>
              <a:t>6</a:t>
            </a:r>
            <a:endParaRPr lang="en-US" sz="2000" dirty="0"/>
          </a:p>
        </p:txBody>
      </p:sp>
      <p:sp>
        <p:nvSpPr>
          <p:cNvPr id="14" name="Text 12"/>
          <p:cNvSpPr/>
          <p:nvPr/>
        </p:nvSpPr>
        <p:spPr>
          <a:xfrm>
            <a:off x="1681480" y="4165600"/>
            <a:ext cx="3139440"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F1B33"/>
                </a:solidFill>
                <a:latin typeface="Arial" pitchFamily="34" charset="0"/>
                <a:ea typeface="Arial" pitchFamily="34" charset="-122"/>
                <a:cs typeface="Arial" pitchFamily="34" charset="-120"/>
              </a:rPr>
              <a:t>Audit January as a template</a:t>
            </a:r>
            <a:endParaRPr lang="en-US" sz="1600" dirty="0"/>
          </a:p>
        </p:txBody>
      </p:sp>
      <p:sp>
        <p:nvSpPr>
          <p:cNvPr id="15" name="Text 13"/>
          <p:cNvSpPr/>
          <p:nvPr/>
        </p:nvSpPr>
        <p:spPr>
          <a:xfrm>
            <a:off x="4932680" y="4165600"/>
            <a:ext cx="6425387" cy="66548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6506A"/>
                </a:solidFill>
                <a:latin typeface="Arial" pitchFamily="34" charset="0"/>
                <a:ea typeface="Arial" pitchFamily="34" charset="-122"/>
                <a:cs typeface="Arial" pitchFamily="34" charset="-120"/>
              </a:rPr>
              <a:t>January had the highest audience growth (Facebook likes 1,219; Instagram followers 949) at £1,013, below the £1,239 monthly average. Review its creative, copy and targeting. Facebook reach itself peaked in April.</a:t>
            </a:r>
            <a:endParaRPr lang="en-US" sz="1200" dirty="0"/>
          </a:p>
        </p:txBody>
      </p:sp>
      <p:sp>
        <p:nvSpPr>
          <p:cNvPr id="16" name="Text 14"/>
          <p:cNvSpPr/>
          <p:nvPr/>
        </p:nvSpPr>
        <p:spPr>
          <a:xfrm>
            <a:off x="812800" y="6238242"/>
            <a:ext cx="588645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47A"/>
                </a:solidFill>
                <a:latin typeface="Arial" pitchFamily="34" charset="0"/>
                <a:ea typeface="Arial" pitchFamily="34" charset="-122"/>
                <a:cs typeface="Arial" pitchFamily="34" charset="-120"/>
              </a:rPr>
              <a:t>Meta channels performance</a:t>
            </a:r>
            <a:endParaRPr lang="en-US" sz="1200" dirty="0"/>
          </a:p>
        </p:txBody>
      </p:sp>
      <p:sp>
        <p:nvSpPr>
          <p:cNvPr id="17" name="Text 15"/>
          <p:cNvSpPr/>
          <p:nvPr/>
        </p:nvSpPr>
        <p:spPr>
          <a:xfrm>
            <a:off x="8108950" y="6238242"/>
            <a:ext cx="327025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B647A"/>
                </a:solidFill>
                <a:latin typeface="Arial" pitchFamily="34" charset="0"/>
                <a:ea typeface="Arial" pitchFamily="34" charset="-122"/>
                <a:cs typeface="Arial" pitchFamily="34" charset="-120"/>
              </a:rPr>
              <a:t>12</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6F7FA"/>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200" dirty="0">
                <a:solidFill>
                  <a:srgbClr val="2860CF"/>
                </a:solidFill>
                <a:latin typeface="Arial" pitchFamily="34" charset="0"/>
                <a:ea typeface="Arial" pitchFamily="34" charset="-122"/>
                <a:cs typeface="Arial" pitchFamily="34" charset="-120"/>
              </a:rPr>
              <a:t>LIMITS</a:t>
            </a:r>
            <a:endParaRPr lang="en-US" sz="1200" dirty="0"/>
          </a:p>
        </p:txBody>
      </p:sp>
      <p:sp>
        <p:nvSpPr>
          <p:cNvPr id="3" name="Text 1"/>
          <p:cNvSpPr>
            <a:spLocks noGrp="1"/>
          </p:cNvSpPr>
          <p:nvPr>
            <p:ph type="title"/>
          </p:nvPr>
        </p:nvSpPr>
        <p:spPr>
          <a:xfrm>
            <a:off x="812800" y="1229364"/>
            <a:ext cx="10883392" cy="492760"/>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0F1B33"/>
                </a:solidFill>
                <a:latin typeface="Arial" pitchFamily="34" charset="0"/>
                <a:ea typeface="Arial" pitchFamily="34" charset="-122"/>
                <a:cs typeface="Arial" pitchFamily="34" charset="-120"/>
              </a:rPr>
              <a:t>Data notes and open points</a:t>
            </a:r>
            <a:endParaRPr lang="en-US" sz="3200" dirty="0"/>
          </a:p>
        </p:txBody>
      </p:sp>
      <p:sp>
        <p:nvSpPr>
          <p:cNvPr id="4" name="Shape 2"/>
          <p:cNvSpPr/>
          <p:nvPr/>
        </p:nvSpPr>
        <p:spPr>
          <a:xfrm>
            <a:off x="815975" y="1903096"/>
            <a:ext cx="5213350" cy="1029970"/>
          </a:xfrm>
          <a:prstGeom prst="roundRect">
            <a:avLst>
              <a:gd name="adj" fmla="val 12022"/>
            </a:avLst>
          </a:prstGeom>
          <a:solidFill>
            <a:srgbClr val="FCFCFD"/>
          </a:solidFill>
          <a:ln w="6350">
            <a:solidFill>
              <a:srgbClr val="DDE1EA"/>
            </a:solidFill>
            <a:prstDash val="solid"/>
          </a:ln>
        </p:spPr>
        <p:txBody>
          <a:bodyPr/>
          <a:lstStyle/>
          <a:p>
            <a:endParaRPr lang="en-US"/>
          </a:p>
        </p:txBody>
      </p:sp>
      <p:sp>
        <p:nvSpPr>
          <p:cNvPr id="5" name="Text 3"/>
          <p:cNvSpPr/>
          <p:nvPr/>
        </p:nvSpPr>
        <p:spPr>
          <a:xfrm>
            <a:off x="1021080" y="2057400"/>
            <a:ext cx="4947234"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F1B33"/>
                </a:solidFill>
                <a:latin typeface="Arial" pitchFamily="34" charset="0"/>
                <a:ea typeface="Arial" pitchFamily="34" charset="-122"/>
                <a:cs typeface="Arial" pitchFamily="34" charset="-120"/>
              </a:rPr>
              <a:t>March cause unconfirmed</a:t>
            </a:r>
            <a:endParaRPr lang="en-US" sz="1600" dirty="0"/>
          </a:p>
        </p:txBody>
      </p:sp>
      <p:sp>
        <p:nvSpPr>
          <p:cNvPr id="6" name="Text 4"/>
          <p:cNvSpPr/>
          <p:nvPr/>
        </p:nvSpPr>
        <p:spPr>
          <a:xfrm>
            <a:off x="1021080" y="2352042"/>
            <a:ext cx="4947234"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6506A"/>
                </a:solidFill>
                <a:latin typeface="Arial" pitchFamily="34" charset="0"/>
                <a:ea typeface="Arial" pitchFamily="34" charset="-122"/>
                <a:cs typeface="Arial" pitchFamily="34" charset="-120"/>
              </a:rPr>
              <a:t>Spend hit £0 on 7–8 March and ran at about £2 a day on 14–21 March. Confirmation from the Ad manager is pending.</a:t>
            </a:r>
            <a:endParaRPr lang="en-US" sz="1200" dirty="0"/>
          </a:p>
        </p:txBody>
      </p:sp>
      <p:sp>
        <p:nvSpPr>
          <p:cNvPr id="7" name="Shape 5"/>
          <p:cNvSpPr/>
          <p:nvPr/>
        </p:nvSpPr>
        <p:spPr>
          <a:xfrm>
            <a:off x="6162675" y="1903096"/>
            <a:ext cx="5213350" cy="1029970"/>
          </a:xfrm>
          <a:prstGeom prst="roundRect">
            <a:avLst>
              <a:gd name="adj" fmla="val 12022"/>
            </a:avLst>
          </a:prstGeom>
          <a:solidFill>
            <a:srgbClr val="FCFCFD"/>
          </a:solidFill>
          <a:ln w="6350">
            <a:solidFill>
              <a:srgbClr val="DDE1EA"/>
            </a:solidFill>
            <a:prstDash val="solid"/>
          </a:ln>
        </p:spPr>
        <p:txBody>
          <a:bodyPr/>
          <a:lstStyle/>
          <a:p>
            <a:endParaRPr lang="en-US"/>
          </a:p>
        </p:txBody>
      </p:sp>
      <p:sp>
        <p:nvSpPr>
          <p:cNvPr id="8" name="Text 6"/>
          <p:cNvSpPr/>
          <p:nvPr/>
        </p:nvSpPr>
        <p:spPr>
          <a:xfrm>
            <a:off x="6367780" y="2057400"/>
            <a:ext cx="4947234"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F1B33"/>
                </a:solidFill>
                <a:latin typeface="Arial" pitchFamily="34" charset="0"/>
                <a:ea typeface="Arial" pitchFamily="34" charset="-122"/>
                <a:cs typeface="Arial" pitchFamily="34" charset="-120"/>
              </a:rPr>
              <a:t>Association, not causation</a:t>
            </a:r>
            <a:endParaRPr lang="en-US" sz="1600" dirty="0"/>
          </a:p>
        </p:txBody>
      </p:sp>
      <p:sp>
        <p:nvSpPr>
          <p:cNvPr id="9" name="Text 7"/>
          <p:cNvSpPr/>
          <p:nvPr/>
        </p:nvSpPr>
        <p:spPr>
          <a:xfrm>
            <a:off x="6367780" y="2352042"/>
            <a:ext cx="4947234"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6506A"/>
                </a:solidFill>
                <a:latin typeface="Arial" pitchFamily="34" charset="0"/>
                <a:ea typeface="Arial" pitchFamily="34" charset="-122"/>
                <a:cs typeface="Arial" pitchFamily="34" charset="-120"/>
              </a:rPr>
              <a:t>Four monthly points and daily correlations show a link, not proof. Spend and reach may share a cause.</a:t>
            </a:r>
            <a:endParaRPr lang="en-US" sz="1200" dirty="0"/>
          </a:p>
        </p:txBody>
      </p:sp>
      <p:sp>
        <p:nvSpPr>
          <p:cNvPr id="11" name="Text 9"/>
          <p:cNvSpPr/>
          <p:nvPr/>
        </p:nvSpPr>
        <p:spPr>
          <a:xfrm>
            <a:off x="1021080" y="3220721"/>
            <a:ext cx="4947234" cy="269240"/>
          </a:xfrm>
          <a:prstGeom prst="rect">
            <a:avLst/>
          </a:prstGeom>
          <a:noFill/>
          <a:ln/>
        </p:spPr>
        <p:txBody>
          <a:bodyPr wrap="square" lIns="0" tIns="0" rIns="0" bIns="0" rtlCol="0" anchor="t">
            <a:normAutofit/>
          </a:bodyPr>
          <a:lstStyle/>
          <a:p>
            <a:pPr marL="0" indent="0" algn="l">
              <a:lnSpc>
                <a:spcPts val="1920"/>
              </a:lnSpc>
              <a:buNone/>
            </a:pPr>
            <a:endParaRPr lang="en-US" sz="1600" dirty="0"/>
          </a:p>
        </p:txBody>
      </p:sp>
      <p:sp>
        <p:nvSpPr>
          <p:cNvPr id="13" name="Shape 11"/>
          <p:cNvSpPr/>
          <p:nvPr/>
        </p:nvSpPr>
        <p:spPr>
          <a:xfrm>
            <a:off x="6162675" y="3066417"/>
            <a:ext cx="5213350" cy="1029970"/>
          </a:xfrm>
          <a:prstGeom prst="roundRect">
            <a:avLst>
              <a:gd name="adj" fmla="val 12022"/>
            </a:avLst>
          </a:prstGeom>
          <a:solidFill>
            <a:srgbClr val="FCFCFD"/>
          </a:solidFill>
          <a:ln w="6350">
            <a:solidFill>
              <a:srgbClr val="DDE1EA"/>
            </a:solidFill>
            <a:prstDash val="solid"/>
          </a:ln>
        </p:spPr>
        <p:txBody>
          <a:bodyPr/>
          <a:lstStyle/>
          <a:p>
            <a:endParaRPr lang="en-US"/>
          </a:p>
        </p:txBody>
      </p:sp>
      <p:sp>
        <p:nvSpPr>
          <p:cNvPr id="14" name="Text 12"/>
          <p:cNvSpPr/>
          <p:nvPr/>
        </p:nvSpPr>
        <p:spPr>
          <a:xfrm>
            <a:off x="6367780" y="3220721"/>
            <a:ext cx="4947234"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F1B33"/>
                </a:solidFill>
                <a:latin typeface="Arial" pitchFamily="34" charset="0"/>
                <a:ea typeface="Arial" pitchFamily="34" charset="-122"/>
                <a:cs typeface="Arial" pitchFamily="34" charset="-120"/>
              </a:rPr>
              <a:t>Reach is summed daily</a:t>
            </a:r>
            <a:endParaRPr lang="en-US" sz="1600" dirty="0"/>
          </a:p>
        </p:txBody>
      </p:sp>
      <p:sp>
        <p:nvSpPr>
          <p:cNvPr id="15" name="Text 13"/>
          <p:cNvSpPr/>
          <p:nvPr/>
        </p:nvSpPr>
        <p:spPr>
          <a:xfrm>
            <a:off x="6367780" y="3515364"/>
            <a:ext cx="4947234"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6506A"/>
                </a:solidFill>
                <a:latin typeface="Arial" pitchFamily="34" charset="0"/>
                <a:ea typeface="Arial" pitchFamily="34" charset="-122"/>
                <a:cs typeface="Arial" pitchFamily="34" charset="-120"/>
              </a:rPr>
              <a:t>Repeat viewers count again: 848,467 summed paid reach vs 339,230 de-duplicated. Growth rates use one method throughout.</a:t>
            </a:r>
            <a:endParaRPr lang="en-US" sz="1200" dirty="0"/>
          </a:p>
        </p:txBody>
      </p:sp>
      <p:sp>
        <p:nvSpPr>
          <p:cNvPr id="16" name="Shape 14"/>
          <p:cNvSpPr/>
          <p:nvPr/>
        </p:nvSpPr>
        <p:spPr>
          <a:xfrm>
            <a:off x="812800" y="3087370"/>
            <a:ext cx="5213350" cy="1029970"/>
          </a:xfrm>
          <a:prstGeom prst="roundRect">
            <a:avLst>
              <a:gd name="adj" fmla="val 12022"/>
            </a:avLst>
          </a:prstGeom>
          <a:solidFill>
            <a:srgbClr val="FCFCFD"/>
          </a:solidFill>
          <a:ln w="6350">
            <a:solidFill>
              <a:srgbClr val="DDE1EA"/>
            </a:solidFill>
            <a:prstDash val="solid"/>
          </a:ln>
        </p:spPr>
        <p:txBody>
          <a:bodyPr/>
          <a:lstStyle/>
          <a:p>
            <a:endParaRPr lang="en-US"/>
          </a:p>
        </p:txBody>
      </p:sp>
      <p:sp>
        <p:nvSpPr>
          <p:cNvPr id="17" name="Text 15"/>
          <p:cNvSpPr/>
          <p:nvPr/>
        </p:nvSpPr>
        <p:spPr>
          <a:xfrm>
            <a:off x="1017905" y="3241673"/>
            <a:ext cx="4947234"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F1B33"/>
                </a:solidFill>
                <a:latin typeface="Arial" pitchFamily="34" charset="0"/>
                <a:ea typeface="Arial" pitchFamily="34" charset="-122"/>
                <a:cs typeface="Arial" pitchFamily="34" charset="-120"/>
              </a:rPr>
              <a:t>Paid and organic overlap</a:t>
            </a:r>
            <a:endParaRPr lang="en-US" sz="1600" dirty="0"/>
          </a:p>
        </p:txBody>
      </p:sp>
      <p:sp>
        <p:nvSpPr>
          <p:cNvPr id="18" name="Text 16"/>
          <p:cNvSpPr/>
          <p:nvPr/>
        </p:nvSpPr>
        <p:spPr>
          <a:xfrm>
            <a:off x="1017905" y="3536310"/>
            <a:ext cx="4947234"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6506A"/>
                </a:solidFill>
                <a:latin typeface="Arial" pitchFamily="34" charset="0"/>
                <a:ea typeface="Arial" pitchFamily="34" charset="-122"/>
                <a:cs typeface="Arial" pitchFamily="34" charset="-120"/>
              </a:rPr>
              <a:t>Facebook Page reach includes paid reach (daily r = 0.99), so organic reach cannot be isolated.</a:t>
            </a:r>
            <a:endParaRPr lang="en-US" sz="1200" dirty="0"/>
          </a:p>
        </p:txBody>
      </p:sp>
      <p:sp>
        <p:nvSpPr>
          <p:cNvPr id="19" name="Shape 17"/>
          <p:cNvSpPr/>
          <p:nvPr/>
        </p:nvSpPr>
        <p:spPr>
          <a:xfrm>
            <a:off x="3752850" y="4271643"/>
            <a:ext cx="5219700" cy="1036320"/>
          </a:xfrm>
          <a:prstGeom prst="roundRect">
            <a:avLst>
              <a:gd name="adj" fmla="val 12255"/>
            </a:avLst>
          </a:prstGeom>
          <a:solidFill>
            <a:srgbClr val="0F1B33"/>
          </a:solidFill>
          <a:ln/>
        </p:spPr>
        <p:txBody>
          <a:bodyPr/>
          <a:lstStyle/>
          <a:p>
            <a:endParaRPr lang="en-US"/>
          </a:p>
        </p:txBody>
      </p:sp>
      <p:sp>
        <p:nvSpPr>
          <p:cNvPr id="20" name="Text 18"/>
          <p:cNvSpPr/>
          <p:nvPr/>
        </p:nvSpPr>
        <p:spPr>
          <a:xfrm>
            <a:off x="3956050" y="4424043"/>
            <a:ext cx="4957699"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F6F7FA"/>
                </a:solidFill>
                <a:latin typeface="Arial" pitchFamily="34" charset="0"/>
                <a:ea typeface="Arial" pitchFamily="34" charset="-122"/>
                <a:cs typeface="Arial" pitchFamily="34" charset="-120"/>
              </a:rPr>
              <a:t>Next step</a:t>
            </a:r>
            <a:endParaRPr lang="en-US" sz="1600" dirty="0"/>
          </a:p>
        </p:txBody>
      </p:sp>
      <p:sp>
        <p:nvSpPr>
          <p:cNvPr id="21" name="Text 19"/>
          <p:cNvSpPr/>
          <p:nvPr/>
        </p:nvSpPr>
        <p:spPr>
          <a:xfrm>
            <a:off x="3956050" y="4718679"/>
            <a:ext cx="4957699"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5CCDD"/>
                </a:solidFill>
                <a:latin typeface="Arial" pitchFamily="34" charset="0"/>
                <a:ea typeface="Arial" pitchFamily="34" charset="-122"/>
                <a:cs typeface="Arial" pitchFamily="34" charset="-120"/>
              </a:rPr>
              <a:t>Confirm the March cause with the Ad manager before finalising recommendation 1.</a:t>
            </a:r>
            <a:endParaRPr lang="en-US" sz="1200" dirty="0"/>
          </a:p>
        </p:txBody>
      </p:sp>
      <p:sp>
        <p:nvSpPr>
          <p:cNvPr id="22" name="Text 20"/>
          <p:cNvSpPr/>
          <p:nvPr/>
        </p:nvSpPr>
        <p:spPr>
          <a:xfrm>
            <a:off x="812800" y="6238242"/>
            <a:ext cx="588645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47A"/>
                </a:solidFill>
                <a:latin typeface="Arial" pitchFamily="34" charset="0"/>
                <a:ea typeface="Arial" pitchFamily="34" charset="-122"/>
                <a:cs typeface="Arial" pitchFamily="34" charset="-120"/>
              </a:rPr>
              <a:t>Meta channels performance</a:t>
            </a:r>
            <a:endParaRPr lang="en-US" sz="1200" dirty="0"/>
          </a:p>
        </p:txBody>
      </p:sp>
      <p:sp>
        <p:nvSpPr>
          <p:cNvPr id="23" name="Text 21"/>
          <p:cNvSpPr/>
          <p:nvPr/>
        </p:nvSpPr>
        <p:spPr>
          <a:xfrm>
            <a:off x="8108950" y="6238242"/>
            <a:ext cx="327025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B647A"/>
                </a:solidFill>
                <a:latin typeface="Arial" pitchFamily="34" charset="0"/>
                <a:ea typeface="Arial" pitchFamily="34" charset="-122"/>
                <a:cs typeface="Arial" pitchFamily="34" charset="-120"/>
              </a:rPr>
              <a:t>13</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F1B33"/>
        </a:solidFill>
        <a:effectLst/>
      </p:bgPr>
    </p:bg>
    <p:spTree>
      <p:nvGrpSpPr>
        <p:cNvPr id="1" name=""/>
        <p:cNvGrpSpPr/>
        <p:nvPr/>
      </p:nvGrpSpPr>
      <p:grpSpPr>
        <a:xfrm>
          <a:off x="0" y="0"/>
          <a:ext cx="0" cy="0"/>
          <a:chOff x="0" y="0"/>
          <a:chExt cx="0" cy="0"/>
        </a:xfrm>
      </p:grpSpPr>
      <p:pic>
        <p:nvPicPr>
          <p:cNvPr id="2" name="Image 0" descr="ellipse"/>
          <p:cNvPicPr>
            <a:picLocks noChangeAspect="1"/>
          </p:cNvPicPr>
          <p:nvPr/>
        </p:nvPicPr>
        <p:blipFill>
          <a:blip r:embed="rId3"/>
          <a:srcRect/>
          <a:stretch/>
        </p:blipFill>
        <p:spPr>
          <a:xfrm>
            <a:off x="7239000" y="812800"/>
            <a:ext cx="4064000" cy="4064000"/>
          </a:xfrm>
          <a:prstGeom prst="rect">
            <a:avLst/>
          </a:prstGeom>
        </p:spPr>
      </p:pic>
      <p:pic>
        <p:nvPicPr>
          <p:cNvPr id="3" name="Image 1" descr="ellipse"/>
          <p:cNvPicPr>
            <a:picLocks noChangeAspect="1"/>
          </p:cNvPicPr>
          <p:nvPr/>
        </p:nvPicPr>
        <p:blipFill>
          <a:blip r:embed="rId4"/>
          <a:srcRect/>
          <a:stretch/>
        </p:blipFill>
        <p:spPr>
          <a:xfrm>
            <a:off x="7747000" y="1320800"/>
            <a:ext cx="3048000" cy="3048000"/>
          </a:xfrm>
          <a:prstGeom prst="rect">
            <a:avLst/>
          </a:prstGeom>
        </p:spPr>
      </p:pic>
      <p:pic>
        <p:nvPicPr>
          <p:cNvPr id="4" name="Image 2" descr="ellipse"/>
          <p:cNvPicPr>
            <a:picLocks noChangeAspect="1"/>
          </p:cNvPicPr>
          <p:nvPr/>
        </p:nvPicPr>
        <p:blipFill>
          <a:blip r:embed="rId5"/>
          <a:srcRect/>
          <a:stretch/>
        </p:blipFill>
        <p:spPr>
          <a:xfrm>
            <a:off x="8255000" y="1828800"/>
            <a:ext cx="2032000" cy="2032000"/>
          </a:xfrm>
          <a:prstGeom prst="rect">
            <a:avLst/>
          </a:prstGeom>
        </p:spPr>
      </p:pic>
      <p:sp>
        <p:nvSpPr>
          <p:cNvPr id="5" name="Text 0"/>
          <p:cNvSpPr>
            <a:spLocks noGrp="1"/>
          </p:cNvSpPr>
          <p:nvPr>
            <p:ph type="title"/>
          </p:nvPr>
        </p:nvSpPr>
        <p:spPr>
          <a:xfrm>
            <a:off x="812800" y="2490471"/>
            <a:ext cx="10883392" cy="825500"/>
          </a:xfrm>
          <a:prstGeom prst="rect">
            <a:avLst/>
          </a:prstGeom>
          <a:noFill/>
          <a:ln/>
        </p:spPr>
        <p:txBody>
          <a:bodyPr wrap="square" lIns="0" tIns="0" rIns="0" bIns="0" rtlCol="0" anchor="t">
            <a:normAutofit/>
          </a:bodyPr>
          <a:lstStyle/>
          <a:p>
            <a:pPr marL="0" indent="0" algn="l">
              <a:lnSpc>
                <a:spcPts val="6300"/>
              </a:lnSpc>
              <a:buNone/>
            </a:pPr>
            <a:r>
              <a:rPr lang="en-US" sz="6000" b="1" i="0" dirty="0">
                <a:solidFill>
                  <a:srgbClr val="F6F7FA"/>
                </a:solidFill>
                <a:latin typeface="Arial" pitchFamily="34" charset="0"/>
                <a:ea typeface="Arial" pitchFamily="34" charset="-122"/>
                <a:cs typeface="Arial" pitchFamily="34" charset="-120"/>
              </a:rPr>
              <a:t>Thank you</a:t>
            </a:r>
            <a:endParaRPr lang="en-US" sz="6000" dirty="0"/>
          </a:p>
        </p:txBody>
      </p:sp>
      <p:sp>
        <p:nvSpPr>
          <p:cNvPr id="6" name="Text 1"/>
          <p:cNvSpPr/>
          <p:nvPr/>
        </p:nvSpPr>
        <p:spPr>
          <a:xfrm>
            <a:off x="812800" y="3442971"/>
            <a:ext cx="10883392" cy="30988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C5CCDD"/>
                </a:solidFill>
                <a:latin typeface="Arial" pitchFamily="34" charset="0"/>
                <a:ea typeface="Arial" pitchFamily="34" charset="-122"/>
                <a:cs typeface="Arial" pitchFamily="34" charset="-120"/>
              </a:rPr>
              <a:t>Questions and discussion</a:t>
            </a:r>
            <a:endParaRPr lang="en-US" sz="1600" dirty="0"/>
          </a:p>
        </p:txBody>
      </p:sp>
      <p:sp>
        <p:nvSpPr>
          <p:cNvPr id="7" name="Text 2"/>
          <p:cNvSpPr/>
          <p:nvPr/>
        </p:nvSpPr>
        <p:spPr>
          <a:xfrm>
            <a:off x="812800" y="3879850"/>
            <a:ext cx="10883392" cy="309880"/>
          </a:xfrm>
          <a:prstGeom prst="rect">
            <a:avLst/>
          </a:prstGeom>
          <a:noFill/>
          <a:ln/>
        </p:spPr>
        <p:txBody>
          <a:bodyPr wrap="square" lIns="0" tIns="0" rIns="0" bIns="0" rtlCol="0" anchor="t">
            <a:normAutofit/>
          </a:bodyPr>
          <a:lstStyle/>
          <a:p>
            <a:pPr marL="0" indent="0" algn="l">
              <a:lnSpc>
                <a:spcPts val="2240"/>
              </a:lnSpc>
              <a:buNone/>
            </a:pPr>
            <a:endParaRPr lang="en-US" sz="1600" dirty="0"/>
          </a:p>
        </p:txBody>
      </p:sp>
    </p:spTree>
  </p:cSld>
  <p:clrMapOvr>
    <a:masterClrMapping/>
  </p:clrMapOvr>
</p:sld>
</file>

<file path=ppt/theme/theme1.xml><?xml version="1.0" encoding="utf-8"?>
<a:theme xmlns:a="http://schemas.openxmlformats.org/drawingml/2006/main" name="Digital Echoes — Meta Channels Performance Report">
  <a:themeElements>
    <a:clrScheme name="Digital Echoes — Meta Channels Performance Report">
      <a:dk1>
        <a:srgbClr val="0F1B33"/>
      </a:dk1>
      <a:lt1>
        <a:srgbClr val="F6F7FA"/>
      </a:lt1>
      <a:dk2>
        <a:srgbClr val="495265"/>
      </a:dk2>
      <a:lt2>
        <a:srgbClr val="DFE1E6"/>
      </a:lt2>
      <a:accent1>
        <a:srgbClr val="2860CF"/>
      </a:accent1>
      <a:accent2>
        <a:srgbClr val="B4561A"/>
      </a:accent2>
      <a:accent3>
        <a:srgbClr val="146B5E"/>
      </a:accent3>
      <a:accent4>
        <a:srgbClr val="E8833A"/>
      </a:accent4>
      <a:accent5>
        <a:srgbClr val="8DB4FF"/>
      </a:accent5>
      <a:accent6>
        <a:srgbClr val="5B647A"/>
      </a:accent6>
      <a:hlink>
        <a:srgbClr val="0563C1"/>
      </a:hlink>
      <a:folHlink>
        <a:srgbClr val="954F72"/>
      </a:folHlink>
    </a:clrScheme>
    <a:fontScheme name="Digital Echoes — Meta Channels Performance Report">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25</TotalTime>
  <Words>1914</Words>
  <Application>Microsoft Office PowerPoint</Application>
  <PresentationFormat>Widescreen</PresentationFormat>
  <Paragraphs>171</Paragraphs>
  <Slides>13</Slides>
  <Notes>13</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13</vt:i4>
      </vt:variant>
    </vt:vector>
  </HeadingPairs>
  <TitlesOfParts>
    <vt:vector size="15" baseType="lpstr">
      <vt:lpstr>Arial</vt:lpstr>
      <vt:lpstr>Digital Echoes — Meta Channels Performance Report</vt:lpstr>
      <vt:lpstr>PowerPoint Presentation</vt:lpstr>
      <vt:lpstr>Key performance indicators</vt:lpstr>
      <vt:lpstr>Terminology</vt:lpstr>
      <vt:lpstr>Dashboard summary</vt:lpstr>
      <vt:lpstr>Audience reach growth, month on month</vt:lpstr>
      <vt:lpstr>Facebook Page likes vs Instagram followers</vt:lpstr>
      <vt:lpstr>Total ad spend trend</vt:lpstr>
      <vt:lpstr>Month-on-month change in ad spend</vt:lpstr>
      <vt:lpstr>What the data shows</vt:lpstr>
      <vt:lpstr>Protect delivery and scale in steps</vt:lpstr>
      <vt:lpstr>Build the audience and test what works</vt:lpstr>
      <vt:lpstr>Data notes and open points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Victor Oduh</cp:lastModifiedBy>
  <cp:revision>21</cp:revision>
  <dcterms:created xsi:type="dcterms:W3CDTF">2026-10-09T21:45:02Z</dcterms:created>
  <dcterms:modified xsi:type="dcterms:W3CDTF">2026-10-09T22:11:17Z</dcterms:modified>
</cp:coreProperties>
</file>